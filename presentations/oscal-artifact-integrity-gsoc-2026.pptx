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efc9c3c2e948e3" /><Relationship Type="http://schemas.openxmlformats.org/officeDocument/2006/relationships/extended-properties" Target="/docProps/app.xml" Id="R028582dc51fd412a" /><Relationship Type="http://schemas.openxmlformats.org/officeDocument/2006/relationships/officeDocument" Target="/ppt/presentation.xml" Id="R51ff73d5c539447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a6416f06a68447a"/>
  </p:sldMasterIdLst>
  <p:notesMasterIdLst>
    <p:notesMasterId xmlns:r="http://schemas.openxmlformats.org/officeDocument/2006/relationships" r:id="R8c598ec5987a4ad7"/>
  </p:notesMasterIdLst>
  <p:sldIdLst>
    <p:sldId xmlns:r="http://schemas.openxmlformats.org/officeDocument/2006/relationships" id="256" r:id="R68cde2d3ae8a48bb"/>
    <p:sldId xmlns:r="http://schemas.openxmlformats.org/officeDocument/2006/relationships" id="257" r:id="Rf1e5ec2eacab47c4"/>
    <p:sldId xmlns:r="http://schemas.openxmlformats.org/officeDocument/2006/relationships" id="258" r:id="R8ff142434c0a43e0"/>
    <p:sldId xmlns:r="http://schemas.openxmlformats.org/officeDocument/2006/relationships" id="259" r:id="R0fed9e8640764212"/>
    <p:sldId xmlns:r="http://schemas.openxmlformats.org/officeDocument/2006/relationships" id="260" r:id="Rcef821a094c04917"/>
    <p:sldId xmlns:r="http://schemas.openxmlformats.org/officeDocument/2006/relationships" id="261" r:id="Ra0db9af67a924453"/>
    <p:sldId xmlns:r="http://schemas.openxmlformats.org/officeDocument/2006/relationships" id="262" r:id="Rc54c5e8037374a6b"/>
    <p:sldId xmlns:r="http://schemas.openxmlformats.org/officeDocument/2006/relationships" id="263" r:id="Ra81c56c27f8f4c4d"/>
    <p:sldId xmlns:r="http://schemas.openxmlformats.org/officeDocument/2006/relationships" id="264" r:id="R9b3468423755483d"/>
    <p:sldId xmlns:r="http://schemas.openxmlformats.org/officeDocument/2006/relationships" id="265" r:id="R2e8423bdbff9462f"/>
    <p:sldId xmlns:r="http://schemas.openxmlformats.org/officeDocument/2006/relationships" id="266" r:id="Ra7e79708db6344e2"/>
    <p:sldId xmlns:r="http://schemas.openxmlformats.org/officeDocument/2006/relationships" id="267" r:id="Rc455bc22ee2a42d7"/>
    <p:sldId xmlns:r="http://schemas.openxmlformats.org/officeDocument/2006/relationships" id="268" r:id="Ref71a45f67ce4a7a"/>
    <p:sldId xmlns:r="http://schemas.openxmlformats.org/officeDocument/2006/relationships" id="269" r:id="Re418cba189744ffa"/>
    <p:sldId xmlns:r="http://schemas.openxmlformats.org/officeDocument/2006/relationships" id="270" r:id="R5c9659dbecde49cf"/>
    <p:sldId xmlns:r="http://schemas.openxmlformats.org/officeDocument/2006/relationships" id="271" r:id="Rd0f0a2233e994b21"/>
    <p:sldId xmlns:r="http://schemas.openxmlformats.org/officeDocument/2006/relationships" id="272" r:id="R347b6e47452c4f6b"/>
    <p:sldId xmlns:r="http://schemas.openxmlformats.org/officeDocument/2006/relationships" id="273" r:id="Rd3f37852166d46a2"/>
    <p:sldId xmlns:r="http://schemas.openxmlformats.org/officeDocument/2006/relationships" id="274" r:id="R53e2e5f187a94650"/>
    <p:sldId xmlns:r="http://schemas.openxmlformats.org/officeDocument/2006/relationships" id="275" r:id="Rc76f0c5354c24974"/>
  </p:sldIdLst>
  <p:sldSz cx="9144000" cy="5143500"/>
  <p:notesSz cx="6858000" cy="9144000"/>
  <p:embeddedFontLst>
    <p:embeddedFont>
      <p:font typeface="Play"/>
      <p:regular xmlns:r="http://schemas.openxmlformats.org/officeDocument/2006/relationships" r:id="Rb23833a101d742d0"/>
      <p:bold xmlns:r="http://schemas.openxmlformats.org/officeDocument/2006/relationships" r:id="Rfba09801bb8f4de1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3db7b08fcd4cca" /><Relationship Type="http://schemas.openxmlformats.org/officeDocument/2006/relationships/slideMaster" Target="/ppt/slideMasters/slideMaster1.xml" Id="Rba6416f06a68447a" /><Relationship Type="http://schemas.openxmlformats.org/officeDocument/2006/relationships/notesMaster" Target="/ppt/notesMasters/notesMaster1.xml" Id="R8c598ec5987a4ad7" /><Relationship Type="http://schemas.openxmlformats.org/officeDocument/2006/relationships/presProps" Target="/ppt/presProps.xml" Id="Rf17a203062c642f6" /><Relationship Type="http://schemas.openxmlformats.org/officeDocument/2006/relationships/tableStyles" Target="/ppt/tableStyles.xml" Id="Rb31fd9c0654547d1" /><Relationship Type="http://schemas.openxmlformats.org/officeDocument/2006/relationships/font" Target="/ppt/fonts/font.dat" Id="Rb23833a101d742d0" /><Relationship Type="http://schemas.openxmlformats.org/officeDocument/2006/relationships/font" Target="/ppt/fonts/font2.dat" Id="Rfba09801bb8f4de1" /><Relationship Type="http://schemas.openxmlformats.org/officeDocument/2006/relationships/slide" Target="/ppt/slides/slide1.xml" Id="R68cde2d3ae8a48bb" /><Relationship Type="http://schemas.openxmlformats.org/officeDocument/2006/relationships/slide" Target="/ppt/slides/slide2.xml" Id="Rf1e5ec2eacab47c4" /><Relationship Type="http://schemas.openxmlformats.org/officeDocument/2006/relationships/slide" Target="/ppt/slides/slide3.xml" Id="R8ff142434c0a43e0" /><Relationship Type="http://schemas.openxmlformats.org/officeDocument/2006/relationships/slide" Target="/ppt/slides/slide4.xml" Id="R0fed9e8640764212" /><Relationship Type="http://schemas.openxmlformats.org/officeDocument/2006/relationships/slide" Target="/ppt/slides/slide5.xml" Id="Rcef821a094c04917" /><Relationship Type="http://schemas.openxmlformats.org/officeDocument/2006/relationships/slide" Target="/ppt/slides/slide6.xml" Id="Ra0db9af67a924453" /><Relationship Type="http://schemas.openxmlformats.org/officeDocument/2006/relationships/slide" Target="/ppt/slides/slide7.xml" Id="Rc54c5e8037374a6b" /><Relationship Type="http://schemas.openxmlformats.org/officeDocument/2006/relationships/slide" Target="/ppt/slides/slide8.xml" Id="Ra81c56c27f8f4c4d" /><Relationship Type="http://schemas.openxmlformats.org/officeDocument/2006/relationships/slide" Target="/ppt/slides/slide9.xml" Id="R9b3468423755483d" /><Relationship Type="http://schemas.openxmlformats.org/officeDocument/2006/relationships/slide" Target="/ppt/slides/slide10.xml" Id="R2e8423bdbff9462f" /><Relationship Type="http://schemas.openxmlformats.org/officeDocument/2006/relationships/slide" Target="/ppt/slides/slide11.xml" Id="Ra7e79708db6344e2" /><Relationship Type="http://schemas.openxmlformats.org/officeDocument/2006/relationships/slide" Target="/ppt/slides/slide12.xml" Id="Rc455bc22ee2a42d7" /><Relationship Type="http://schemas.openxmlformats.org/officeDocument/2006/relationships/slide" Target="/ppt/slides/slide13.xml" Id="Ref71a45f67ce4a7a" /><Relationship Type="http://schemas.openxmlformats.org/officeDocument/2006/relationships/slide" Target="/ppt/slides/slide14.xml" Id="Re418cba189744ffa" /><Relationship Type="http://schemas.openxmlformats.org/officeDocument/2006/relationships/slide" Target="/ppt/slides/slide15.xml" Id="R5c9659dbecde49cf" /><Relationship Type="http://schemas.openxmlformats.org/officeDocument/2006/relationships/slide" Target="/ppt/slides/slide16.xml" Id="Rd0f0a2233e994b21" /><Relationship Type="http://schemas.openxmlformats.org/officeDocument/2006/relationships/slide" Target="/ppt/slides/slide17.xml" Id="R347b6e47452c4f6b" /><Relationship Type="http://schemas.openxmlformats.org/officeDocument/2006/relationships/slide" Target="/ppt/slides/slide18.xml" Id="Rd3f37852166d46a2" /><Relationship Type="http://schemas.openxmlformats.org/officeDocument/2006/relationships/slide" Target="/ppt/slides/slide19.xml" Id="R53e2e5f187a94650" /><Relationship Type="http://schemas.openxmlformats.org/officeDocument/2006/relationships/slide" Target="/ppt/slides/slide20.xml" Id="Rc76f0c5354c249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5230784a124d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def9b7c7b04111" /><Relationship Type="http://schemas.openxmlformats.org/officeDocument/2006/relationships/notesMaster" Target="/ppt/notesMasters/notesMaster1.xml" Id="R859034cbeadc4e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a00bae898145f1" /><Relationship Type="http://schemas.openxmlformats.org/officeDocument/2006/relationships/notesMaster" Target="/ppt/notesMasters/notesMaster1.xml" Id="Re6b5b0dabf3a4c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31742eac354ed9" /><Relationship Type="http://schemas.openxmlformats.org/officeDocument/2006/relationships/notesMaster" Target="/ppt/notesMasters/notesMaster1.xml" Id="R281e6e51dde54b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7e1cb889fb4c88" /><Relationship Type="http://schemas.openxmlformats.org/officeDocument/2006/relationships/notesMaster" Target="/ppt/notesMasters/notesMaster1.xml" Id="R40ac923067fc41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b892de26e44e6b" /><Relationship Type="http://schemas.openxmlformats.org/officeDocument/2006/relationships/notesMaster" Target="/ppt/notesMasters/notesMaster1.xml" Id="R493aaab0782046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0cd06b0a6f482a" /><Relationship Type="http://schemas.openxmlformats.org/officeDocument/2006/relationships/notesMaster" Target="/ppt/notesMasters/notesMaster1.xml" Id="R173e196c7fe548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c053bce51f4047" /><Relationship Type="http://schemas.openxmlformats.org/officeDocument/2006/relationships/notesMaster" Target="/ppt/notesMasters/notesMaster1.xml" Id="R9a07ce8a617b49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d6aeea4fe34e51" /><Relationship Type="http://schemas.openxmlformats.org/officeDocument/2006/relationships/notesMaster" Target="/ppt/notesMasters/notesMaster1.xml" Id="Re5503bcc51a140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6a4d9428af45c9" /><Relationship Type="http://schemas.openxmlformats.org/officeDocument/2006/relationships/notesMaster" Target="/ppt/notesMasters/notesMaster1.xml" Id="Recdd2540738546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ebbea2687e4d3d" /><Relationship Type="http://schemas.openxmlformats.org/officeDocument/2006/relationships/notesMaster" Target="/ppt/notesMasters/notesMaster1.xml" Id="R282566ee822e4d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b042f9ab754dfb" /><Relationship Type="http://schemas.openxmlformats.org/officeDocument/2006/relationships/notesMaster" Target="/ppt/notesMasters/notesMaster1.xml" Id="R4a1175af75244c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bf4984b2fb44dc" /><Relationship Type="http://schemas.openxmlformats.org/officeDocument/2006/relationships/notesMaster" Target="/ppt/notesMasters/notesMaster1.xml" Id="R5ec5c9090c4549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7a058f2bf6481d" /><Relationship Type="http://schemas.openxmlformats.org/officeDocument/2006/relationships/notesMaster" Target="/ppt/notesMasters/notesMaster1.xml" Id="Raf947e15c5fa45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f03b96a6cf4316" /><Relationship Type="http://schemas.openxmlformats.org/officeDocument/2006/relationships/notesMaster" Target="/ppt/notesMasters/notesMaster1.xml" Id="R2dc1cc2f208c4d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8c07a79dbf4776" /><Relationship Type="http://schemas.openxmlformats.org/officeDocument/2006/relationships/notesMaster" Target="/ppt/notesMasters/notesMaster1.xml" Id="R175c9d47958a48d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bccf3ae2ff94cca" /><Relationship Type="http://schemas.openxmlformats.org/officeDocument/2006/relationships/notesMaster" Target="/ppt/notesMasters/notesMaster1.xml" Id="Re2ddd34092e548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bbe4e79e174c20" /><Relationship Type="http://schemas.openxmlformats.org/officeDocument/2006/relationships/notesMaster" Target="/ppt/notesMasters/notesMaster1.xml" Id="R6e304fb05bfc4f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4e79ebb0a0b4188" /><Relationship Type="http://schemas.openxmlformats.org/officeDocument/2006/relationships/notesMaster" Target="/ppt/notesMasters/notesMaster1.xml" Id="R24cec4fa3fdf44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7ead23cf3ec4035" /><Relationship Type="http://schemas.openxmlformats.org/officeDocument/2006/relationships/notesMaster" Target="/ppt/notesMasters/notesMaster1.xml" Id="Rfb9ca4e2344b4e7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a3a71484d424752" /><Relationship Type="http://schemas.openxmlformats.org/officeDocument/2006/relationships/notesMaster" Target="/ppt/notesMasters/notesMaster1.xml" Id="R162ab481cf6146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89287ca4af42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61e845369e4f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485943bd1444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dfdbc4a7ba44de" /></Relationships>
</file>

<file path=ppt/slideLayouts/slideLayout1.xml><?xml version="1.0" encoding="utf-8"?>
<p:sldLayout xmlns:p="http://schemas.openxmlformats.org/presentationml/2006/main" matchingName="MASTER 1">
  <p:cSld name="MASTER (g3ee72e7f01c_16_0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18">
            <a:extLst xmlns:a="http://schemas.openxmlformats.org/drawingml/2006/main">
              <a:ext uri="{FF2B5EF4-FFF2-40B4-BE49-F238E27FC236}">
                <a16:creationId xmlns:a16="http://schemas.microsoft.com/office/drawing/2014/main" id="{473EB5FE-012A-4975-8574-C1366C6AA4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93103" y="4786883"/>
            <a:ext cx="1629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b="0" i="0" u="none" cap="none"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MASTER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19">
            <a:extLst xmlns:a="http://schemas.openxmlformats.org/drawingml/2006/main">
              <a:ext uri="{FF2B5EF4-FFF2-40B4-BE49-F238E27FC236}">
                <a16:creationId xmlns:a16="http://schemas.microsoft.com/office/drawing/2014/main" id="{996AC761-8F8B-4256-B3B5-202016F2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-1"/>
            <a:ext cx="9153307" cy="891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0000"/>
          </a:solidFill>
          <a:ln xmlns:a="http://schemas.openxmlformats.org/drawingml/2006/main" w="12700" cmpd="sng">
            <a:solidFill>
              <a:srgbClr val="EE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1" name="Google Shape;17;p19"/>
          <p:cNvCxnSpPr/>
          <p:nvPr/>
        </p:nvCxnSpPr>
        <p:spPr>
          <a:xfrm xmlns:a="http://schemas.openxmlformats.org/drawingml/2006/main">
            <a:off x="446234" y="4745735"/>
            <a:ext cx="8272509" cy="1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19">
            <a:extLst xmlns:a="http://schemas.openxmlformats.org/drawingml/2006/main">
              <a:ext uri="{FF2B5EF4-FFF2-40B4-BE49-F238E27FC236}">
                <a16:creationId xmlns:a16="http://schemas.microsoft.com/office/drawing/2014/main" id="{9AC3DC51-F6F7-41E9-94A0-ECA51220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61" y="4800981"/>
            <a:ext cx="5011560" cy="163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rPr>
              <a:t>compliance-trestle | OSCAL artifact integrity</a:t>
            </a:r>
            <a:endParaRPr sz="1100"/>
          </a:p>
        </p:txBody>
      </p:sp>
      <p:sp>
        <p:nvSpPr>
          <p:cNvPr id="19" name="Google Shape;19;p19">
            <a:extLst xmlns:a="http://schemas.openxmlformats.org/drawingml/2006/main">
              <a:ext uri="{FF2B5EF4-FFF2-40B4-BE49-F238E27FC236}">
                <a16:creationId xmlns:a16="http://schemas.microsoft.com/office/drawing/2014/main" id="{9CB7ED8D-3B77-4068-B075-008554B106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93103" y="4786883"/>
            <a:ext cx="163033" cy="163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b="0" i="0" u="none" cap="none"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DEFAULT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20">
            <a:extLst xmlns:a="http://schemas.openxmlformats.org/drawingml/2006/main">
              <a:ext uri="{FF2B5EF4-FFF2-40B4-BE49-F238E27FC236}">
                <a16:creationId xmlns:a16="http://schemas.microsoft.com/office/drawing/2014/main" id="{AF59688D-B710-4A47-AE2C-C128D5E3E1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b="0" i="0" u="none" cap="none"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MASTER 2">
  <p:cSld name="MASTER (g3f69ed51f39_70_0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g3f69ed51f39_0_587">
            <a:extLst xmlns:a="http://schemas.openxmlformats.org/drawingml/2006/main">
              <a:ext uri="{FF2B5EF4-FFF2-40B4-BE49-F238E27FC236}">
                <a16:creationId xmlns:a16="http://schemas.microsoft.com/office/drawing/2014/main" id="{C93EF0EA-7DA1-42CE-9D08-99902C6DC6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93103" y="4786883"/>
            <a:ext cx="1629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>
                <a:solidFill>
                  <a:srgbClr val="6A6E73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b="0" i="0" u="none" cap="none"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45bce1817a4750" /><Relationship Type="http://schemas.openxmlformats.org/officeDocument/2006/relationships/slideLayout" Target="/ppt/slideLayouts/slideLayout1.xml" Id="Rf7fd9d0ef66a4a96" /><Relationship Type="http://schemas.openxmlformats.org/officeDocument/2006/relationships/slideLayout" Target="/ppt/slideLayouts/slideLayout2.xml" Id="R28d5ffba7c784b1b" /><Relationship Type="http://schemas.openxmlformats.org/officeDocument/2006/relationships/slideLayout" Target="/ppt/slideLayouts/slideLayout3.xml" Id="R5edcb1f8289544e3" /><Relationship Type="http://schemas.openxmlformats.org/officeDocument/2006/relationships/slideLayout" Target="/ppt/slideLayouts/slideLayout4.xml" Id="Re820c5a033ea41f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7">
            <a:extLst xmlns:a="http://schemas.openxmlformats.org/drawingml/2006/main">
              <a:ext uri="{FF2B5EF4-FFF2-40B4-BE49-F238E27FC236}">
                <a16:creationId xmlns:a16="http://schemas.microsoft.com/office/drawing/2014/main" id="{2F56CF34-89A1-4CE9-ABC0-089C1C1E4E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69056"/>
            <a:ext cx="8229600" cy="1131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Play"/>
              <a:buNone/>
              <a:defRPr sz="3300" b="0" i="0" u="none" cap="none">
                <a:solidFill>
                  <a:srgbClr val="000000"/>
                </a:solidFill>
                <a:latin typeface="Play"/>
                <a:ea typeface="Play"/>
                <a:cs typeface="Play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Play"/>
              <a:buNone/>
              <a:defRPr sz="3300" b="0" i="0" u="none" cap="none">
                <a:solidFill>
                  <a:srgbClr val="000000"/>
                </a:solidFill>
                <a:latin typeface="Play"/>
                <a:ea typeface="Play"/>
                <a:cs typeface="Play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Play"/>
              <a:buNone/>
              <a:defRPr sz="3300" b="0" i="0" u="none" cap="none">
                <a:solidFill>
                  <a:srgbClr val="000000"/>
                </a:solidFill>
                <a:latin typeface="Play"/>
                <a:ea typeface="Play"/>
                <a:cs typeface="Play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Play"/>
              <a:buNone/>
              <a:defRPr sz="3300" b="0" i="0" u="none" cap="none">
                <a:solidFill>
                  <a:srgbClr val="000000"/>
                </a:solidFill>
                <a:latin typeface="Play"/>
                <a:ea typeface="Play"/>
                <a:cs typeface="Play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Play"/>
              <a:buNone/>
              <a:defRPr sz="3300" b="0" i="0" u="none" cap="none">
                <a:solidFill>
                  <a:srgbClr val="000000"/>
                </a:solidFill>
                <a:latin typeface="Play"/>
                <a:ea typeface="Play"/>
                <a:cs typeface="Play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Play"/>
              <a:buNone/>
              <a:defRPr sz="3300" b="0" i="0" u="none" cap="none">
                <a:solidFill>
                  <a:srgbClr val="000000"/>
                </a:solidFill>
                <a:latin typeface="Play"/>
                <a:ea typeface="Play"/>
                <a:cs typeface="Play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Play"/>
              <a:buNone/>
              <a:defRPr sz="3300" b="0" i="0" u="none" cap="none">
                <a:solidFill>
                  <a:srgbClr val="000000"/>
                </a:solidFill>
                <a:latin typeface="Play"/>
                <a:ea typeface="Play"/>
                <a:cs typeface="Play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Play"/>
              <a:buNone/>
              <a:defRPr sz="3300" b="0" i="0" u="none" cap="none">
                <a:solidFill>
                  <a:srgbClr val="000000"/>
                </a:solidFill>
                <a:latin typeface="Play"/>
                <a:ea typeface="Play"/>
                <a:cs typeface="Play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Play"/>
              <a:buNone/>
              <a:defRPr sz="3300" b="0" i="0" u="none" cap="none">
                <a:solidFill>
                  <a:srgbClr val="000000"/>
                </a:solidFill>
                <a:latin typeface="Play"/>
                <a:ea typeface="Play"/>
                <a:cs typeface="Play"/>
              </a:defRPr>
            </a:lvl9pPr>
          </a:lstStyle>
          <a:p xmlns:a="http://schemas.openxmlformats.org/drawingml/2006/main"/>
        </p:txBody>
      </p:sp>
      <p:sp>
        <p:nvSpPr>
          <p:cNvPr id="11" name="Google Shape;11;p17">
            <a:extLst xmlns:a="http://schemas.openxmlformats.org/drawingml/2006/main">
              <a:ext uri="{FF2B5EF4-FFF2-40B4-BE49-F238E27FC236}">
                <a16:creationId xmlns:a16="http://schemas.microsoft.com/office/drawing/2014/main" id="{3E5969EC-40EE-47E8-9546-F93E8CADB8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0"/>
            <a:ext cx="82296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>
            <a:lvl1pPr marL="457200" marR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»"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" name="Google Shape;12;p17">
            <a:extLst xmlns:a="http://schemas.openxmlformats.org/drawingml/2006/main">
              <a:ext uri="{FF2B5EF4-FFF2-40B4-BE49-F238E27FC236}">
                <a16:creationId xmlns:a16="http://schemas.microsoft.com/office/drawing/2014/main" id="{A21D513D-110D-40F1-93DD-869C8AF750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  <a:defRPr sz="6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fd9d0ef66a4a96"/>
    <p:sldLayoutId xmlns:r="http://schemas.openxmlformats.org/officeDocument/2006/relationships" id="2147483650" r:id="R28d5ffba7c784b1b"/>
    <p:sldLayoutId xmlns:r="http://schemas.openxmlformats.org/officeDocument/2006/relationships" id="2147483651" r:id="R5edcb1f8289544e3"/>
    <p:sldLayoutId xmlns:r="http://schemas.openxmlformats.org/officeDocument/2006/relationships" id="2147483652" r:id="Re820c5a033ea41f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a1b01ebaa4e45" /><Relationship Type="http://schemas.openxmlformats.org/officeDocument/2006/relationships/image" Target="/ppt/media/image.png" Id="R188936e8c8a64d2a" /><Relationship Type="http://schemas.openxmlformats.org/officeDocument/2006/relationships/image" Target="/ppt/media/image2.png" Id="Re9e1c56ced5241b8" /><Relationship Type="http://schemas.openxmlformats.org/officeDocument/2006/relationships/notesSlide" Target="/ppt/notesSlides/notesSlide1.xml" Id="R99131645db424c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6d0fcfb4b14bf9" /><Relationship Type="http://schemas.openxmlformats.org/officeDocument/2006/relationships/notesSlide" Target="/ppt/notesSlides/notesSlide2.xml" Id="R5f18d0e76e9047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e1da2d27af44d7" /><Relationship Type="http://schemas.openxmlformats.org/officeDocument/2006/relationships/notesSlide" Target="/ppt/notesSlides/notesSlide3.xml" Id="Ra4b3b2e4d54049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2289034e7c422c" /><Relationship Type="http://schemas.openxmlformats.org/officeDocument/2006/relationships/notesSlide" Target="/ppt/notesSlides/notesSlide4.xml" Id="R582aedea331445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498143259442fd" /><Relationship Type="http://schemas.openxmlformats.org/officeDocument/2006/relationships/notesSlide" Target="/ppt/notesSlides/notesSlide5.xml" Id="R6f65740eeb734a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79db62d44441c1" /><Relationship Type="http://schemas.openxmlformats.org/officeDocument/2006/relationships/image" Target="/ppt/media/image3.png" Id="Re7aa080f81414652" /><Relationship Type="http://schemas.openxmlformats.org/officeDocument/2006/relationships/image" Target="/ppt/media/image4.png" Id="R3750161e70ac4be1" /><Relationship Type="http://schemas.openxmlformats.org/officeDocument/2006/relationships/notesSlide" Target="/ppt/notesSlides/notesSlide6.xml" Id="R89bfc792e43049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3173e0d026e4f5c" /><Relationship Type="http://schemas.openxmlformats.org/officeDocument/2006/relationships/notesSlide" Target="/ppt/notesSlides/notesSlide7.xml" Id="Rf87e50b968664a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43a8f74d3b4ffd" /><Relationship Type="http://schemas.openxmlformats.org/officeDocument/2006/relationships/image" Target="/ppt/media/image5.png" Id="R7fe842a1a9424989" /><Relationship Type="http://schemas.openxmlformats.org/officeDocument/2006/relationships/image" Target="/ppt/media/image6.png" Id="Rf043e91d7e2548e7" /><Relationship Type="http://schemas.openxmlformats.org/officeDocument/2006/relationships/image" Target="/ppt/media/image7.png" Id="R32950ff394284d44" /><Relationship Type="http://schemas.openxmlformats.org/officeDocument/2006/relationships/image" Target="/ppt/media/image8.png" Id="R140b76c3a0d94fba" /><Relationship Type="http://schemas.openxmlformats.org/officeDocument/2006/relationships/image" Target="/ppt/media/image9.png" Id="R4e9316495df44e8d" /><Relationship Type="http://schemas.openxmlformats.org/officeDocument/2006/relationships/notesSlide" Target="/ppt/notesSlides/notesSlide8.xml" Id="R8e74081e3b9e45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0336c4b70449c5" /><Relationship Type="http://schemas.openxmlformats.org/officeDocument/2006/relationships/notesSlide" Target="/ppt/notesSlides/notesSlide9.xml" Id="Rbd3daedbacdd45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b5dc1246c640be" /><Relationship Type="http://schemas.openxmlformats.org/officeDocument/2006/relationships/image" Target="/ppt/media/image10.png" Id="R2fa4dee493a64762" /><Relationship Type="http://schemas.openxmlformats.org/officeDocument/2006/relationships/image" Target="/ppt/media/image11.png" Id="R0c78d9221f974329" /><Relationship Type="http://schemas.openxmlformats.org/officeDocument/2006/relationships/image" Target="/ppt/media/image12.png" Id="Re1c0d9f3e12c46f0" /><Relationship Type="http://schemas.openxmlformats.org/officeDocument/2006/relationships/notesSlide" Target="/ppt/notesSlides/notesSlide10.xml" Id="Rc7719894524b46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967b9a27354af6" /><Relationship Type="http://schemas.openxmlformats.org/officeDocument/2006/relationships/notesSlide" Target="/ppt/notesSlides/notesSlide11.xml" Id="Refb079036a6b41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bfb4436c9d4be0" /><Relationship Type="http://schemas.openxmlformats.org/officeDocument/2006/relationships/notesSlide" Target="/ppt/notesSlides/notesSlide12.xml" Id="Ra41a65e28f0c47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75ee1f6faf49bf" /><Relationship Type="http://schemas.openxmlformats.org/officeDocument/2006/relationships/image" Target="/ppt/media/image13.png" Id="R17f55834e8ad4c0d" /><Relationship Type="http://schemas.openxmlformats.org/officeDocument/2006/relationships/notesSlide" Target="/ppt/notesSlides/notesSlide13.xml" Id="R3d30f040fa8947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395e4e9085444a" /><Relationship Type="http://schemas.openxmlformats.org/officeDocument/2006/relationships/notesSlide" Target="/ppt/notesSlides/notesSlide14.xml" Id="Rd120567f7de840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e0e223a6404d38" /><Relationship Type="http://schemas.openxmlformats.org/officeDocument/2006/relationships/notesSlide" Target="/ppt/notesSlides/notesSlide15.xml" Id="R07d4c23a94b0476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c1b160cfc7487f" /><Relationship Type="http://schemas.openxmlformats.org/officeDocument/2006/relationships/image" Target="/ppt/media/image14.png" Id="R5acab42aadbc4bdd" /><Relationship Type="http://schemas.openxmlformats.org/officeDocument/2006/relationships/image" Target="/ppt/media/image15.png" Id="Rc44831696dc64967" /><Relationship Type="http://schemas.openxmlformats.org/officeDocument/2006/relationships/image" Target="/ppt/media/image16.png" Id="R8b8cb6a1d8ad4955" /><Relationship Type="http://schemas.openxmlformats.org/officeDocument/2006/relationships/image" Target="/ppt/media/image17.png" Id="R14977b5ff7054a32" /><Relationship Type="http://schemas.openxmlformats.org/officeDocument/2006/relationships/notesSlide" Target="/ppt/notesSlides/notesSlide16.xml" Id="R4dd4e7eb63fd44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53ab470b98477b" /><Relationship Type="http://schemas.openxmlformats.org/officeDocument/2006/relationships/notesSlide" Target="/ppt/notesSlides/notesSlide17.xml" Id="Rf2518751cd7e492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dc795e3f57488f" /><Relationship Type="http://schemas.openxmlformats.org/officeDocument/2006/relationships/notesSlide" Target="/ppt/notesSlides/notesSlide18.xml" Id="Rc9047c8713b6487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ceb373476444b7" /><Relationship Type="http://schemas.openxmlformats.org/officeDocument/2006/relationships/hyperlink" Target="https://github.com/oscal-compass/e2e-demo" TargetMode="External" Id="R55c3c49770d74533" /><Relationship Type="http://schemas.openxmlformats.org/officeDocument/2006/relationships/hyperlink" Target="https://github.com/oscal-compass/e2e-demo-ssp/pull/9" TargetMode="External" Id="R50a84e638ad04d71" /><Relationship Type="http://schemas.openxmlformats.org/officeDocument/2006/relationships/hyperlink" Target="https://github.com/oscal-compass/e2e-demo-compliance-posture/pull/5" TargetMode="External" Id="Rd94b77b8c73e4147" /><Relationship Type="http://schemas.openxmlformats.org/officeDocument/2006/relationships/notesSlide" Target="/ppt/notesSlides/notesSlide19.xml" Id="R9f2087149b1c462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e42be3b3b245a3" /><Relationship Type="http://schemas.openxmlformats.org/officeDocument/2006/relationships/notesSlide" Target="/ppt/notesSlides/notesSlide20.xml" Id="R8ae493e2711d416e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188936e8c8a64d2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1">
            <a:extLst xmlns:a="http://schemas.openxmlformats.org/drawingml/2006/main">
              <a:ext uri="{FF2B5EF4-FFF2-40B4-BE49-F238E27FC236}">
                <a16:creationId xmlns:a16="http://schemas.microsoft.com/office/drawing/2014/main" id="{A2C87BA0-5766-46E9-83FD-669BAA89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-1"/>
            <a:ext cx="9153300" cy="8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0000"/>
          </a:solidFill>
          <a:ln xmlns:a="http://schemas.openxmlformats.org/drawingml/2006/main" w="12700" cmpd="sng">
            <a:solidFill>
              <a:srgbClr val="EE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2" name="Google Shape;30;p1"/>
          <p:cNvCxnSpPr/>
          <p:nvPr/>
        </p:nvCxnSpPr>
        <p:spPr>
          <a:xfrm xmlns:a="http://schemas.openxmlformats.org/drawingml/2006/main">
            <a:off x="446234" y="4745735"/>
            <a:ext cx="8272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" name="Google Shape;31;p1">
            <a:extLst xmlns:a="http://schemas.openxmlformats.org/drawingml/2006/main">
              <a:ext uri="{FF2B5EF4-FFF2-40B4-BE49-F238E27FC236}">
                <a16:creationId xmlns:a16="http://schemas.microsoft.com/office/drawing/2014/main" id="{A6F7A4F0-6D4E-4038-BBF4-D1571C20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81500"/>
            <a:ext cx="3810000" cy="12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800"/>
              <a:buFont typeface="Arial"/>
              <a:buNone/>
            </a:pPr>
            <a:r>
              <a:rPr sz="800" b="0">
                <a:solidFill>
                  <a:srgbClr val="6A6E73"/>
                </a:solidFill>
                <a:latin typeface="Arial"/>
                <a:ea typeface="Arial"/>
                <a:cs typeface="Arial"/>
              </a:rPr>
              <a:t>compliance-trestle | OSCAL artifact integrity</a:t>
            </a:r>
            <a:endParaRPr sz="800" b="0">
              <a:solidFill>
                <a:srgbClr val="6A6E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Google Shape;32;p1">
            <a:extLst xmlns:a="http://schemas.openxmlformats.org/drawingml/2006/main">
              <a:ext uri="{FF2B5EF4-FFF2-40B4-BE49-F238E27FC236}">
                <a16:creationId xmlns:a16="http://schemas.microsoft.com/office/drawing/2014/main" id="{634A6B26-10E7-4BFF-96D0-093227A5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1509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0000"/>
          </a:solidFill>
          <a:ln xmlns:a="http://schemas.openxmlformats.org/drawingml/2006/main" w="12700" cmpd="sng">
            <a:solidFill>
              <a:srgbClr val="EE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Google Shape;33;p1">
            <a:extLst xmlns:a="http://schemas.openxmlformats.org/drawingml/2006/main">
              <a:ext uri="{FF2B5EF4-FFF2-40B4-BE49-F238E27FC236}">
                <a16:creationId xmlns:a16="http://schemas.microsoft.com/office/drawing/2014/main" id="{FFB3FC5C-4A16-4F56-AB0A-DCB4275D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46" name="Google Shape;34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e1c56ced5241b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10488" y="-481012"/>
            <a:ext cx="1433400" cy="1914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5" name="Google Shape;35;p1">
            <a:extLst xmlns:a="http://schemas.openxmlformats.org/drawingml/2006/main">
              <a:ext uri="{FF2B5EF4-FFF2-40B4-BE49-F238E27FC236}">
                <a16:creationId xmlns:a16="http://schemas.microsoft.com/office/drawing/2014/main" id="{7BA2AD31-79FE-46D3-B53D-86A7F85B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905000" cy="15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8BBBE"/>
              </a:buClr>
              <a:buSzPts val="1000"/>
              <a:buFont typeface="Arial"/>
              <a:buNone/>
            </a:pPr>
            <a:r>
              <a:rPr sz="1000" b="0" i="0">
                <a:solidFill>
                  <a:srgbClr val="B8BBBE"/>
                </a:solidFill>
                <a:latin typeface="Arial"/>
                <a:ea typeface="Arial"/>
                <a:cs typeface="Arial"/>
              </a:rPr>
              <a:t>August 2026 | GSoC</a:t>
            </a:r>
            <a:endParaRPr sz="1000" b="0" i="0">
              <a:solidFill>
                <a:srgbClr val="B8BBB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Google Shape;36;p1">
            <a:extLst xmlns:a="http://schemas.openxmlformats.org/drawingml/2006/main">
              <a:ext uri="{FF2B5EF4-FFF2-40B4-BE49-F238E27FC236}">
                <a16:creationId xmlns:a16="http://schemas.microsoft.com/office/drawing/2014/main" id="{BF297199-F143-4497-9B11-0B8B3DEBFFC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93103" y="4786883"/>
            <a:ext cx="1206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  <p:sp>
        <p:nvSpPr>
          <p:cNvPr id="37" name="Google Shape;37;p1">
            <a:extLst xmlns:a="http://schemas.openxmlformats.org/drawingml/2006/main">
              <a:ext uri="{FF2B5EF4-FFF2-40B4-BE49-F238E27FC236}">
                <a16:creationId xmlns:a16="http://schemas.microsoft.com/office/drawing/2014/main" id="{182D046A-1CB0-440E-AB76-EEE2ED06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66750"/>
            <a:ext cx="3810000" cy="3810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0000">
              <a:alpha val="1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8" name="Google Shape;38;p1">
            <a:extLst xmlns:a="http://schemas.openxmlformats.org/drawingml/2006/main">
              <a:ext uri="{FF2B5EF4-FFF2-40B4-BE49-F238E27FC236}">
                <a16:creationId xmlns:a16="http://schemas.microsoft.com/office/drawing/2014/main" id="{7B268C45-7193-41A9-81FE-3C316D36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95"/>
              <a:buFont typeface="Play"/>
              <a:buNone/>
            </a:pPr>
            <a:r>
              <a:rPr sz="4995" b="1">
                <a:solidFill>
                  <a:srgbClr val="FFFFFF"/>
                </a:solidFill>
                <a:latin typeface="Play"/>
                <a:ea typeface="Play"/>
                <a:cs typeface="Play"/>
              </a:rPr>
              <a:t>OSCAL Artifact Integrity</a:t>
            </a:r>
            <a:endParaRPr sz="4995" b="1">
              <a:solidFill>
                <a:srgbClr val="FFFFFF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39" name="Google Shape;39;p1">
            <a:extLst xmlns:a="http://schemas.openxmlformats.org/drawingml/2006/main">
              <a:ext uri="{FF2B5EF4-FFF2-40B4-BE49-F238E27FC236}">
                <a16:creationId xmlns:a16="http://schemas.microsoft.com/office/drawing/2014/main" id="{7798FF27-DE7C-46B0-A3AC-08B98031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D1D1D1"/>
              </a:buClr>
              <a:buSzPts val="1400"/>
              <a:buFont typeface="Arial"/>
              <a:buNone/>
            </a:pPr>
            <a:r>
              <a:rPr>
                <a:solidFill>
                  <a:srgbClr val="D1D1D1"/>
                </a:solidFill>
              </a:rPr>
              <a:t>Verifiable integrity for JSON artifacts and connected OSCAL packages in compliance-trestle</a:t>
            </a:r>
            <a:endParaRPr sz="1400" b="0">
              <a:solidFill>
                <a:srgbClr val="D1D1D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45975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g3f6f81c4e18_0_0">
            <a:extLst xmlns:a="http://schemas.openxmlformats.org/drawingml/2006/main">
              <a:ext uri="{FF2B5EF4-FFF2-40B4-BE49-F238E27FC236}">
                <a16:creationId xmlns:a16="http://schemas.microsoft.com/office/drawing/2014/main" id="{CC7FECD4-B888-47CB-947F-0B186B10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35" y="316610"/>
            <a:ext cx="8169600" cy="28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900"/>
              <a:buFont typeface="Play"/>
              <a:buNone/>
            </a:pPr>
            <a:r>
              <a:rPr sz="19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From assumed evidence to verifiable evidence</a:t>
            </a:r>
            <a:endParaRPr sz="1100"/>
          </a:p>
        </p:txBody>
      </p:sp>
      <p:sp>
        <p:nvSpPr>
          <p:cNvPr id="47" name="Google Shape;47;g3f6f81c4e18_0_0">
            <a:extLst xmlns:a="http://schemas.openxmlformats.org/drawingml/2006/main">
              <a:ext uri="{FF2B5EF4-FFF2-40B4-BE49-F238E27FC236}">
                <a16:creationId xmlns:a16="http://schemas.microsoft.com/office/drawing/2014/main" id="{331F9F7E-736D-4B15-A98B-0D678839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1275" y="1068128"/>
            <a:ext cx="4000500" cy="1643082"/>
          </a:xfrm>
          <a:prstGeom xmlns:a="http://schemas.openxmlformats.org/drawingml/2006/main" prst="roundRect">
            <a:avLst>
              <a:gd name="adj" fmla="val 1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f6f81c4e18_0_0">
            <a:extLst xmlns:a="http://schemas.openxmlformats.org/drawingml/2006/main">
              <a:ext uri="{FF2B5EF4-FFF2-40B4-BE49-F238E27FC236}">
                <a16:creationId xmlns:a16="http://schemas.microsoft.com/office/drawing/2014/main" id="{48A7A68C-13A4-44EB-B10C-3F1515C4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1275" y="1068128"/>
            <a:ext cx="54300" cy="16430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6f81c4e18_0_0">
            <a:extLst xmlns:a="http://schemas.openxmlformats.org/drawingml/2006/main">
              <a:ext uri="{FF2B5EF4-FFF2-40B4-BE49-F238E27FC236}">
                <a16:creationId xmlns:a16="http://schemas.microsoft.com/office/drawing/2014/main" id="{D7662FB3-22A3-480E-9F18-40A22BE1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3205" y="1180156"/>
            <a:ext cx="3619500" cy="1418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Before</a:t>
            </a:r>
            <a:endParaRPr sz="11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sz="950">
                <a:solidFill>
                  <a:srgbClr val="2B2D2F"/>
                </a:solidFill>
              </a:rPr>
              <a:t>  Auditors must trust:</a:t>
            </a:r>
            <a:endParaRPr sz="950">
              <a:solidFill>
                <a:srgbClr val="2B2D2F"/>
              </a:solidFill>
            </a:endParaRPr>
          </a:p>
          <a:p xmlns:a="http://schemas.openxmlformats.org/drawingml/2006/main">
            <a:pPr marL="0" lvl="0" indent="45720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2B2D2F"/>
              </a:solidFill>
            </a:endParaRPr>
          </a:p>
          <a:p xmlns:a="http://schemas.openxmlformats.org/drawingml/2006/main">
            <a:pPr marL="457200" lvl="0" indent="-28892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D2F"/>
              </a:buClr>
              <a:buSzPts val="950"/>
              <a:buFont typeface="Arial"/>
              <a:buChar char="●"/>
            </a:pPr>
            <a:r>
              <a:rPr sz="950">
                <a:solidFill>
                  <a:srgbClr val="2B2D2F"/>
                </a:solidFill>
              </a:rPr>
              <a:t>Files are identified mainly by names and locations.</a:t>
            </a:r>
            <a:endParaRPr sz="950">
              <a:solidFill>
                <a:srgbClr val="2B2D2F"/>
              </a:solidFill>
            </a:endParaRPr>
          </a:p>
          <a:p xmlns:a="http://schemas.openxmlformats.org/drawingml/2006/main">
            <a:pPr marL="457200" lvl="0" indent="-28892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D2F"/>
              </a:buClr>
              <a:buSzPts val="950"/>
              <a:buFont typeface="Arial"/>
              <a:buChar char="●"/>
            </a:pPr>
            <a:r>
              <a:rPr sz="950">
                <a:solidFill>
                  <a:srgbClr val="2B2D2F"/>
                </a:solidFill>
              </a:rPr>
              <a:t>Auditors must assume they received the versions that were reviewed.</a:t>
            </a:r>
            <a:endParaRPr sz="950">
              <a:solidFill>
                <a:srgbClr val="2B2D2F"/>
              </a:solidFill>
            </a:endParaRPr>
          </a:p>
          <a:p xmlns:a="http://schemas.openxmlformats.org/drawingml/2006/main">
            <a:pPr marL="457200" lvl="0" indent="-28892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D2F"/>
              </a:buClr>
              <a:buSzPts val="950"/>
              <a:buFont typeface="Arial"/>
              <a:buChar char="●"/>
            </a:pPr>
            <a:r>
              <a:rPr sz="950">
                <a:solidFill>
                  <a:srgbClr val="2B2D2F"/>
                </a:solidFill>
              </a:rPr>
              <a:t>Related documents can change independently.</a:t>
            </a:r>
            <a:endParaRPr sz="950">
              <a:solidFill>
                <a:srgbClr val="2B2D2F"/>
              </a:solidFill>
            </a:endParaRPr>
          </a:p>
        </p:txBody>
      </p:sp>
      <p:sp>
        <p:nvSpPr>
          <p:cNvPr id="51" name="Google Shape;51;g3f6f81c4e18_0_0">
            <a:extLst xmlns:a="http://schemas.openxmlformats.org/drawingml/2006/main">
              <a:ext uri="{FF2B5EF4-FFF2-40B4-BE49-F238E27FC236}">
                <a16:creationId xmlns:a16="http://schemas.microsoft.com/office/drawing/2014/main" id="{B3DF23A8-AA10-4C36-BB8B-2483FC37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0380" y="1068128"/>
            <a:ext cx="4000500" cy="1643082"/>
          </a:xfrm>
          <a:prstGeom xmlns:a="http://schemas.openxmlformats.org/drawingml/2006/main" prst="roundRect">
            <a:avLst>
              <a:gd name="adj" fmla="val 1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f6f81c4e18_0_0">
            <a:extLst xmlns:a="http://schemas.openxmlformats.org/drawingml/2006/main">
              <a:ext uri="{FF2B5EF4-FFF2-40B4-BE49-F238E27FC236}">
                <a16:creationId xmlns:a16="http://schemas.microsoft.com/office/drawing/2014/main" id="{672DD65B-95A3-461C-8513-C51C2F4B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0380" y="1068128"/>
            <a:ext cx="54300" cy="16430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3A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f6f81c4e18_0_0">
            <a:extLst xmlns:a="http://schemas.openxmlformats.org/drawingml/2006/main">
              <a:ext uri="{FF2B5EF4-FFF2-40B4-BE49-F238E27FC236}">
                <a16:creationId xmlns:a16="http://schemas.microsoft.com/office/drawing/2014/main" id="{51DC22B1-5993-4DD1-AC33-590CA32A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405" y="1180156"/>
            <a:ext cx="3619500" cy="1418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After</a:t>
            </a:r>
            <a:endParaRPr sz="11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950">
                <a:solidFill>
                  <a:srgbClr val="151515"/>
                </a:solidFill>
                <a:highlight>
                  <a:schemeClr val="lt1"/>
                </a:highlight>
              </a:rPr>
              <a:t>  Auditors can verify:</a:t>
            </a:r>
            <a:endParaRPr sz="950">
              <a:solidFill>
                <a:srgbClr val="151515"/>
              </a:solidFill>
              <a:highlight>
                <a:schemeClr val="lt1"/>
              </a:highlight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151515"/>
              </a:solidFill>
              <a:highlight>
                <a:schemeClr val="lt1"/>
              </a:highlight>
            </a:endParaRPr>
          </a:p>
          <a:p xmlns:a="http://schemas.openxmlformats.org/drawingml/2006/main">
            <a:pPr marL="457200" lvl="0" indent="-28892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950"/>
              <a:buChar char="●"/>
            </a:pPr>
            <a:r>
              <a:rPr sz="950">
                <a:solidFill>
                  <a:srgbClr val="151515"/>
                </a:solidFill>
                <a:highlight>
                  <a:schemeClr val="lt1"/>
                </a:highlight>
              </a:rPr>
              <a:t>The current files match the content approved by the signer.</a:t>
            </a:r>
            <a:endParaRPr sz="950">
              <a:solidFill>
                <a:srgbClr val="151515"/>
              </a:solidFill>
              <a:highlight>
                <a:schemeClr val="lt1"/>
              </a:highlight>
            </a:endParaRPr>
          </a:p>
          <a:p xmlns:a="http://schemas.openxmlformats.org/drawingml/2006/main">
            <a:pPr marL="457200" lvl="0" indent="-28892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950"/>
              <a:buChar char="●"/>
            </a:pPr>
            <a:r>
              <a:rPr sz="950">
                <a:solidFill>
                  <a:srgbClr val="151515"/>
                </a:solidFill>
                <a:highlight>
                  <a:schemeClr val="lt1"/>
                </a:highlight>
              </a:rPr>
              <a:t>One proof can cover an exact set of related documents.</a:t>
            </a:r>
            <a:endParaRPr sz="950">
              <a:solidFill>
                <a:srgbClr val="151515"/>
              </a:solidFill>
              <a:highlight>
                <a:schemeClr val="lt1"/>
              </a:highlight>
            </a:endParaRPr>
          </a:p>
          <a:p xmlns:a="http://schemas.openxmlformats.org/drawingml/2006/main">
            <a:pPr marL="457200" lvl="0" indent="-28892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950"/>
              <a:buChar char="●"/>
            </a:pPr>
            <a:r>
              <a:rPr sz="950">
                <a:solidFill>
                  <a:srgbClr val="151515"/>
                </a:solidFill>
                <a:highlight>
                  <a:schemeClr val="lt1"/>
                </a:highlight>
              </a:rPr>
              <a:t>Later content or package changes are detected.</a:t>
            </a:r>
            <a:endParaRPr sz="950">
              <a:solidFill>
                <a:srgbClr val="151515"/>
              </a:solidFill>
              <a:highlight>
                <a:schemeClr val="lt1"/>
              </a:highlight>
            </a:endParaRPr>
          </a:p>
        </p:txBody>
      </p:sp>
      <p:sp>
        <p:nvSpPr>
          <p:cNvPr id="54" name="Google Shape;54;g3f6f81c4e18_0_0">
            <a:extLst xmlns:a="http://schemas.openxmlformats.org/drawingml/2006/main">
              <a:ext uri="{FF2B5EF4-FFF2-40B4-BE49-F238E27FC236}">
                <a16:creationId xmlns:a16="http://schemas.microsoft.com/office/drawing/2014/main" id="{4A482C7B-BAC9-4658-8F14-77B32EA7224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166063" y="4786883"/>
            <a:ext cx="2478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  <p:sp>
        <p:nvSpPr>
          <p:cNvPr id="56" name="Google Shape;56;g3f6f81c4e18_0_0">
            <a:extLst xmlns:a="http://schemas.openxmlformats.org/drawingml/2006/main">
              <a:ext uri="{FF2B5EF4-FFF2-40B4-BE49-F238E27FC236}">
                <a16:creationId xmlns:a16="http://schemas.microsoft.com/office/drawing/2014/main" id="{CFC52F99-0B20-4A6A-8B4C-FBA9848D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1275" y="3133000"/>
            <a:ext cx="8269673" cy="845436"/>
          </a:xfrm>
          <a:prstGeom xmlns:a="http://schemas.openxmlformats.org/drawingml/2006/main" prst="roundRect">
            <a:avLst>
              <a:gd name="adj" fmla="val 1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f6f81c4e18_0_0">
            <a:extLst xmlns:a="http://schemas.openxmlformats.org/drawingml/2006/main">
              <a:ext uri="{FF2B5EF4-FFF2-40B4-BE49-F238E27FC236}">
                <a16:creationId xmlns:a16="http://schemas.microsoft.com/office/drawing/2014/main" id="{341E29D9-D513-4EA5-AF7C-DFEF08B3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1275" y="3133012"/>
            <a:ext cx="55975" cy="845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f6f81c4e18_0_0">
            <a:extLst xmlns:a="http://schemas.openxmlformats.org/drawingml/2006/main">
              <a:ext uri="{FF2B5EF4-FFF2-40B4-BE49-F238E27FC236}">
                <a16:creationId xmlns:a16="http://schemas.microsoft.com/office/drawing/2014/main" id="{06FF5FEF-A1D0-4745-AABC-050C5847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594" y="3246512"/>
            <a:ext cx="7482319" cy="678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Community benefit</a:t>
            </a:r>
            <a:endParaRPr sz="11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sz="950">
                <a:solidFill>
                  <a:srgbClr val="2B2D2F"/>
                </a:solidFill>
              </a:rPr>
              <a:t>   Trestle turns document identity from an assumption into a verifiable claim using standardized signing and attestation formats.</a:t>
            </a:r>
            <a:endParaRPr sz="950">
              <a:solidFill>
                <a:srgbClr val="2B2D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6864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g38b8f2cf8eb_0_0">
            <a:extLst xmlns:a="http://schemas.openxmlformats.org/drawingml/2006/main">
              <a:ext uri="{FF2B5EF4-FFF2-40B4-BE49-F238E27FC236}">
                <a16:creationId xmlns:a16="http://schemas.microsoft.com/office/drawing/2014/main" id="{44439A8B-A34C-489B-A9A8-165774A2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35" y="316610"/>
            <a:ext cx="8169600" cy="28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900"/>
              <a:buFont typeface="Play"/>
              <a:buNone/>
            </a:pPr>
            <a:r>
              <a:rPr sz="19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OSCAL integrity follows proven supply-chain patterns</a:t>
            </a:r>
            <a:endParaRPr sz="1100"/>
          </a:p>
        </p:txBody>
      </p:sp>
      <p:sp>
        <p:nvSpPr>
          <p:cNvPr id="65" name="Google Shape;65;g38b8f2cf8eb_0_0">
            <a:extLst xmlns:a="http://schemas.openxmlformats.org/drawingml/2006/main">
              <a:ext uri="{FF2B5EF4-FFF2-40B4-BE49-F238E27FC236}">
                <a16:creationId xmlns:a16="http://schemas.microsoft.com/office/drawing/2014/main" id="{7D8FB372-3C3C-4624-BDA1-5D24CE28013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166063" y="4786883"/>
            <a:ext cx="2478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  <p:sp>
        <p:nvSpPr>
          <p:cNvPr id="66" name="Google Shape;66;g38b8f2cf8eb_0_0">
            <a:extLst xmlns:a="http://schemas.openxmlformats.org/drawingml/2006/main">
              <a:ext uri="{FF2B5EF4-FFF2-40B4-BE49-F238E27FC236}">
                <a16:creationId xmlns:a16="http://schemas.microsoft.com/office/drawing/2014/main" id="{55C82C73-5859-440F-A1C1-66AC54FF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64" y="697230"/>
            <a:ext cx="80322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800"/>
              <a:buFont typeface="Arial"/>
              <a:buNone/>
            </a:pPr>
            <a:r>
              <a:rPr sz="800">
                <a:solidFill>
                  <a:srgbClr val="6A6E73"/>
                </a:solidFill>
              </a:rPr>
              <a:t>Trestle applies established software-signing approaches to compliance evidence.</a:t>
            </a:r>
            <a:endParaRPr sz="1100"/>
          </a:p>
        </p:txBody>
      </p:sp>
      <p:sp>
        <p:nvSpPr>
          <p:cNvPr id="67" name="Google Shape;67;g38b8f2cf8eb_0_0">
            <a:extLst xmlns:a="http://schemas.openxmlformats.org/drawingml/2006/main">
              <a:ext uri="{FF2B5EF4-FFF2-40B4-BE49-F238E27FC236}">
                <a16:creationId xmlns:a16="http://schemas.microsoft.com/office/drawing/2014/main" id="{F347B1B8-38E2-41E1-B87B-EBF01FF4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938" y="1374633"/>
            <a:ext cx="1544700" cy="5625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mpd="sng">
            <a:solidFill>
              <a:srgbClr val="0066C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Google Shape;68;g38b8f2cf8eb_0_0">
            <a:extLst xmlns:a="http://schemas.openxmlformats.org/drawingml/2006/main">
              <a:ext uri="{FF2B5EF4-FFF2-40B4-BE49-F238E27FC236}">
                <a16:creationId xmlns:a16="http://schemas.microsoft.com/office/drawing/2014/main" id="{8203ACE5-F5AF-4B47-9CB6-C5DE6010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589" y="1559799"/>
            <a:ext cx="14073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1">
                <a:solidFill>
                  <a:srgbClr val="FFFFFF"/>
                </a:solidFill>
              </a:rPr>
              <a:t>Software and containers</a:t>
            </a:r>
            <a:endParaRPr sz="1100"/>
          </a:p>
        </p:txBody>
      </p:sp>
      <p:sp>
        <p:nvSpPr>
          <p:cNvPr id="69" name="Google Shape;69;g38b8f2cf8eb_0_0">
            <a:extLst xmlns:a="http://schemas.openxmlformats.org/drawingml/2006/main">
              <a:ext uri="{FF2B5EF4-FFF2-40B4-BE49-F238E27FC236}">
                <a16:creationId xmlns:a16="http://schemas.microsoft.com/office/drawing/2014/main" id="{8988B160-C40A-433A-AB2E-66BB9A37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518" y="1573514"/>
            <a:ext cx="2676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Google Shape;70;g38b8f2cf8eb_0_0">
            <a:extLst xmlns:a="http://schemas.openxmlformats.org/drawingml/2006/main">
              <a:ext uri="{FF2B5EF4-FFF2-40B4-BE49-F238E27FC236}">
                <a16:creationId xmlns:a16="http://schemas.microsoft.com/office/drawing/2014/main" id="{D29EAB41-70A9-43CE-A695-01170744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189" y="1374638"/>
            <a:ext cx="1731000" cy="5625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6753AC"/>
          </a:solidFill>
          <a:ln xmlns:a="http://schemas.openxmlformats.org/drawingml/2006/main" w="12700" cmpd="sng">
            <a:solidFill>
              <a:srgbClr val="6753A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Google Shape;71;g38b8f2cf8eb_0_0">
            <a:extLst xmlns:a="http://schemas.openxmlformats.org/drawingml/2006/main">
              <a:ext uri="{FF2B5EF4-FFF2-40B4-BE49-F238E27FC236}">
                <a16:creationId xmlns:a16="http://schemas.microsoft.com/office/drawing/2014/main" id="{E211D3C7-6147-4C81-B88C-95084542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118" y="1559804"/>
            <a:ext cx="15771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1">
                <a:solidFill>
                  <a:srgbClr val="FFFFFF"/>
                </a:solidFill>
              </a:rPr>
              <a:t>in-toto Statements + DSSE</a:t>
            </a:r>
            <a:endParaRPr sz="1100"/>
          </a:p>
        </p:txBody>
      </p:sp>
      <p:sp>
        <p:nvSpPr>
          <p:cNvPr id="72" name="Google Shape;72;g38b8f2cf8eb_0_0">
            <a:extLst xmlns:a="http://schemas.openxmlformats.org/drawingml/2006/main">
              <a:ext uri="{FF2B5EF4-FFF2-40B4-BE49-F238E27FC236}">
                <a16:creationId xmlns:a16="http://schemas.microsoft.com/office/drawing/2014/main" id="{EF8B6BA5-C454-4D57-A8ED-C810F614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860" y="1581051"/>
            <a:ext cx="2676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Google Shape;73;g38b8f2cf8eb_0_0">
            <a:extLst xmlns:a="http://schemas.openxmlformats.org/drawingml/2006/main">
              <a:ext uri="{FF2B5EF4-FFF2-40B4-BE49-F238E27FC236}">
                <a16:creationId xmlns:a16="http://schemas.microsoft.com/office/drawing/2014/main" id="{26C74269-55B4-4F44-8D37-B7EE67E1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522" y="1382170"/>
            <a:ext cx="1544700" cy="5625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E0000"/>
          </a:solidFill>
          <a:ln xmlns:a="http://schemas.openxmlformats.org/drawingml/2006/main" w="12700" cmpd="sng">
            <a:solidFill>
              <a:srgbClr val="EE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Google Shape;74;g38b8f2cf8eb_0_0">
            <a:extLst xmlns:a="http://schemas.openxmlformats.org/drawingml/2006/main">
              <a:ext uri="{FF2B5EF4-FFF2-40B4-BE49-F238E27FC236}">
                <a16:creationId xmlns:a16="http://schemas.microsoft.com/office/drawing/2014/main" id="{8246C205-BBE2-47EA-9450-DF19433B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1174" y="1567336"/>
            <a:ext cx="14073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1">
                <a:solidFill>
                  <a:srgbClr val="FFFFFF"/>
                </a:solidFill>
              </a:rPr>
              <a:t>OSCAL documents and packages</a:t>
            </a:r>
            <a:endParaRPr sz="1100"/>
          </a:p>
        </p:txBody>
      </p:sp>
      <p:sp>
        <p:nvSpPr>
          <p:cNvPr id="75" name="Google Shape;75;g38b8f2cf8eb_0_0">
            <a:extLst xmlns:a="http://schemas.openxmlformats.org/drawingml/2006/main">
              <a:ext uri="{FF2B5EF4-FFF2-40B4-BE49-F238E27FC236}">
                <a16:creationId xmlns:a16="http://schemas.microsoft.com/office/drawing/2014/main" id="{203ADF41-EE8C-4869-B24C-C0F66759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88" y="2396700"/>
            <a:ext cx="2574300" cy="12888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Google Shape;76;g38b8f2cf8eb_0_0">
            <a:extLst xmlns:a="http://schemas.openxmlformats.org/drawingml/2006/main">
              <a:ext uri="{FF2B5EF4-FFF2-40B4-BE49-F238E27FC236}">
                <a16:creationId xmlns:a16="http://schemas.microsoft.com/office/drawing/2014/main" id="{DC8D0817-39A5-4544-B0CC-899ACC8B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88" y="2396700"/>
            <a:ext cx="54900" cy="12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2700" cmpd="sng">
            <a:solidFill>
              <a:srgbClr val="0066C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g38b8f2cf8eb_0_0">
            <a:extLst xmlns:a="http://schemas.openxmlformats.org/drawingml/2006/main">
              <a:ext uri="{FF2B5EF4-FFF2-40B4-BE49-F238E27FC236}">
                <a16:creationId xmlns:a16="http://schemas.microsoft.com/office/drawing/2014/main" id="{A53CF61C-B643-41C4-9072-DC44B263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20" y="2500287"/>
            <a:ext cx="23274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Arial"/>
              <a:buNone/>
            </a:pPr>
            <a:r>
              <a:rPr sz="1000" b="1">
                <a:solidFill>
                  <a:srgbClr val="151515"/>
                </a:solidFill>
              </a:rPr>
              <a:t>Established practice</a:t>
            </a:r>
            <a:endParaRPr sz="1100"/>
          </a:p>
        </p:txBody>
      </p:sp>
      <p:sp>
        <p:nvSpPr>
          <p:cNvPr id="78" name="Google Shape;78;g38b8f2cf8eb_0_0">
            <a:extLst xmlns:a="http://schemas.openxmlformats.org/drawingml/2006/main">
              <a:ext uri="{FF2B5EF4-FFF2-40B4-BE49-F238E27FC236}">
                <a16:creationId xmlns:a16="http://schemas.microsoft.com/office/drawing/2014/main" id="{5D5B507B-8CC4-40A7-BA44-FCB7C211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20" y="2698323"/>
            <a:ext cx="2327400" cy="9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2F"/>
              </a:buClr>
              <a:buSzPts val="800"/>
              <a:buFont typeface="Arial"/>
              <a:buNone/>
            </a:pPr>
            <a:r>
              <a:rPr sz="800">
                <a:solidFill>
                  <a:srgbClr val="2B2D2F"/>
                </a:solidFill>
              </a:rPr>
              <a:t>Organizations already sign software releases and container images to verify integrity and signer identity under an established trust policy.</a:t>
            </a:r>
            <a:endParaRPr sz="1100"/>
          </a:p>
        </p:txBody>
      </p:sp>
      <p:sp>
        <p:nvSpPr>
          <p:cNvPr id="79" name="Google Shape;79;g38b8f2cf8eb_0_0">
            <a:extLst xmlns:a="http://schemas.openxmlformats.org/drawingml/2006/main">
              <a:ext uri="{FF2B5EF4-FFF2-40B4-BE49-F238E27FC236}">
                <a16:creationId xmlns:a16="http://schemas.microsoft.com/office/drawing/2014/main" id="{0FF46C48-4646-49B0-9F68-10B3B339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914" y="2396700"/>
            <a:ext cx="2574300" cy="12888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Google Shape;80;g38b8f2cf8eb_0_0">
            <a:extLst xmlns:a="http://schemas.openxmlformats.org/drawingml/2006/main">
              <a:ext uri="{FF2B5EF4-FFF2-40B4-BE49-F238E27FC236}">
                <a16:creationId xmlns:a16="http://schemas.microsoft.com/office/drawing/2014/main" id="{ABAC5EB2-3FE6-4D7C-B923-45E80FCD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914" y="2396700"/>
            <a:ext cx="54900" cy="12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3AC"/>
          </a:solidFill>
          <a:ln xmlns:a="http://schemas.openxmlformats.org/drawingml/2006/main" w="12700" cmpd="sng">
            <a:solidFill>
              <a:srgbClr val="6753A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Google Shape;81;g38b8f2cf8eb_0_0">
            <a:extLst xmlns:a="http://schemas.openxmlformats.org/drawingml/2006/main">
              <a:ext uri="{FF2B5EF4-FFF2-40B4-BE49-F238E27FC236}">
                <a16:creationId xmlns:a16="http://schemas.microsoft.com/office/drawing/2014/main" id="{74F9A8B4-B190-4E5C-9724-AF3D7B48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9947" y="2500287"/>
            <a:ext cx="23274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Arial"/>
              <a:buNone/>
            </a:pPr>
            <a:r>
              <a:rPr sz="1000" b="1">
                <a:solidFill>
                  <a:srgbClr val="151515"/>
                </a:solidFill>
              </a:rPr>
              <a:t>Standard building blocks</a:t>
            </a:r>
            <a:endParaRPr sz="1100"/>
          </a:p>
        </p:txBody>
      </p:sp>
      <p:sp>
        <p:nvSpPr>
          <p:cNvPr id="82" name="Google Shape;82;g38b8f2cf8eb_0_0">
            <a:extLst xmlns:a="http://schemas.openxmlformats.org/drawingml/2006/main">
              <a:ext uri="{FF2B5EF4-FFF2-40B4-BE49-F238E27FC236}">
                <a16:creationId xmlns:a16="http://schemas.microsoft.com/office/drawing/2014/main" id="{FE5E3B1C-4175-48EA-A6AE-1BCB4CA1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9947" y="2698323"/>
            <a:ext cx="2327400" cy="9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2F"/>
              </a:buClr>
              <a:buSzPts val="800"/>
              <a:buFont typeface="Arial"/>
              <a:buNone/>
            </a:pPr>
            <a:r>
              <a:rPr sz="800">
                <a:solidFill>
                  <a:srgbClr val="2B2D2F"/>
                </a:solidFill>
              </a:rPr>
              <a:t>in-toto Statements describe the approved artifacts, while DSSE provides the signed envelope.</a:t>
            </a:r>
            <a:endParaRPr sz="1100"/>
          </a:p>
        </p:txBody>
      </p:sp>
      <p:sp>
        <p:nvSpPr>
          <p:cNvPr id="83" name="Google Shape;83;g38b8f2cf8eb_0_0">
            <a:extLst xmlns:a="http://schemas.openxmlformats.org/drawingml/2006/main">
              <a:ext uri="{FF2B5EF4-FFF2-40B4-BE49-F238E27FC236}">
                <a16:creationId xmlns:a16="http://schemas.microsoft.com/office/drawing/2014/main" id="{D5430096-991B-4A3F-A73E-11D3B6BD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639" y="2396700"/>
            <a:ext cx="2574300" cy="12888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Google Shape;84;g38b8f2cf8eb_0_0">
            <a:extLst xmlns:a="http://schemas.openxmlformats.org/drawingml/2006/main">
              <a:ext uri="{FF2B5EF4-FFF2-40B4-BE49-F238E27FC236}">
                <a16:creationId xmlns:a16="http://schemas.microsoft.com/office/drawing/2014/main" id="{E1413DAC-9396-43C0-9DDF-460B0445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639" y="2396700"/>
            <a:ext cx="54900" cy="12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0000"/>
          </a:solidFill>
          <a:ln xmlns:a="http://schemas.openxmlformats.org/drawingml/2006/main" w="12700" cmpd="sng">
            <a:solidFill>
              <a:srgbClr val="EE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Google Shape;85;g38b8f2cf8eb_0_0">
            <a:extLst xmlns:a="http://schemas.openxmlformats.org/drawingml/2006/main">
              <a:ext uri="{FF2B5EF4-FFF2-40B4-BE49-F238E27FC236}">
                <a16:creationId xmlns:a16="http://schemas.microsoft.com/office/drawing/2014/main" id="{B4A25F51-099B-4B58-8400-9A70B162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673" y="2500287"/>
            <a:ext cx="23274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Arial"/>
              <a:buNone/>
            </a:pPr>
            <a:r>
              <a:rPr sz="1000" b="1">
                <a:solidFill>
                  <a:srgbClr val="151515"/>
                </a:solidFill>
              </a:rPr>
              <a:t>Applied to OSCAL</a:t>
            </a:r>
            <a:endParaRPr sz="1100"/>
          </a:p>
        </p:txBody>
      </p:sp>
      <p:sp>
        <p:nvSpPr>
          <p:cNvPr id="86" name="Google Shape;86;g38b8f2cf8eb_0_0">
            <a:extLst xmlns:a="http://schemas.openxmlformats.org/drawingml/2006/main">
              <a:ext uri="{FF2B5EF4-FFF2-40B4-BE49-F238E27FC236}">
                <a16:creationId xmlns:a16="http://schemas.microsoft.com/office/drawing/2014/main" id="{4D248690-2703-43FB-8C7C-647F26D8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673" y="2698323"/>
            <a:ext cx="2327400" cy="9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2F"/>
              </a:buClr>
              <a:buSzPts val="800"/>
              <a:buFont typeface="Arial"/>
              <a:buNone/>
            </a:pPr>
            <a:r>
              <a:rPr sz="800">
                <a:solidFill>
                  <a:srgbClr val="2B2D2F"/>
                </a:solidFill>
              </a:rPr>
              <a:t>Trestle combines these standards with canonical JSON and OSCAL dependency discovery.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586055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Google Shape;92;p2">
            <a:extLst xmlns:a="http://schemas.openxmlformats.org/drawingml/2006/main">
              <a:ext uri="{FF2B5EF4-FFF2-40B4-BE49-F238E27FC236}">
                <a16:creationId xmlns:a16="http://schemas.microsoft.com/office/drawing/2014/main" id="{07E3F457-E547-462F-9383-7B7A4AF2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35" y="316610"/>
            <a:ext cx="8169530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900"/>
              <a:buFont typeface="Play"/>
              <a:buNone/>
            </a:pPr>
            <a:r>
              <a:rPr sz="19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Compliance evidence must prove what was actually reviewed</a:t>
            </a:r>
            <a:endParaRPr sz="1100"/>
          </a:p>
        </p:txBody>
      </p:sp>
      <p:sp>
        <p:nvSpPr>
          <p:cNvPr id="93" name="Google Shape;93;p2">
            <a:extLst xmlns:a="http://schemas.openxmlformats.org/drawingml/2006/main">
              <a:ext uri="{FF2B5EF4-FFF2-40B4-BE49-F238E27FC236}">
                <a16:creationId xmlns:a16="http://schemas.microsoft.com/office/drawing/2014/main" id="{CCEAE9B2-AA9A-4470-BF9E-EE9F9AF2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64" y="697230"/>
            <a:ext cx="8032228" cy="12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800"/>
              <a:buFont typeface="Arial"/>
              <a:buNone/>
            </a:pPr>
            <a:r>
              <a:rPr sz="800">
                <a:solidFill>
                  <a:srgbClr val="6A6E73"/>
                </a:solidFill>
              </a:rPr>
              <a:t>OSCAL decisions depend on connected documents, not one isolated file.</a:t>
            </a:r>
            <a:endParaRPr sz="1100"/>
          </a:p>
        </p:txBody>
      </p:sp>
      <p:sp>
        <p:nvSpPr>
          <p:cNvPr id="94" name="Google Shape;94;p2">
            <a:extLst xmlns:a="http://schemas.openxmlformats.org/drawingml/2006/main">
              <a:ext uri="{FF2B5EF4-FFF2-40B4-BE49-F238E27FC236}">
                <a16:creationId xmlns:a16="http://schemas.microsoft.com/office/drawing/2014/main" id="{E0DF5094-F757-4B09-B659-6EC13DCA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00" y="1569325"/>
            <a:ext cx="4153500" cy="194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00" tIns="200" rIns="200" bIns="200" anchor="t">
            <a:normAutofit/>
          </a:bodyPr>
          <a:lstStyle xmlns:a="http://schemas.openxmlformats.org/drawingml/2006/main"/>
          <a:p xmlns:a="http://schemas.openxmlformats.org/drawingml/2006/main">
            <a:pPr marL="457200" marR="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2F"/>
              </a:buClr>
              <a:buSzPts val="1100"/>
              <a:buFont typeface="Arial"/>
              <a:buChar char="●"/>
            </a:pPr>
            <a:r>
              <a:rPr sz="1100">
                <a:solidFill>
                  <a:srgbClr val="2B2D2F"/>
                </a:solidFill>
              </a:rPr>
              <a:t>An SSP depends on profiles, catalogs, and other OSCAL artifacts.</a:t>
            </a:r>
            <a:endParaRPr sz="1100">
              <a:solidFill>
                <a:srgbClr val="2B2D2F"/>
              </a:solidFill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B2D2F"/>
              </a:solidFill>
            </a:endParaRPr>
          </a:p>
          <a:p xmlns:a="http://schemas.openxmlformats.org/drawingml/2006/main">
            <a:pPr marL="457200" marR="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2F"/>
              </a:buClr>
              <a:buSzPts val="1100"/>
              <a:buFont typeface="Arial"/>
              <a:buChar char="●"/>
            </a:pPr>
            <a:r>
              <a:rPr sz="1100">
                <a:solidFill>
                  <a:srgbClr val="2B2D2F"/>
                </a:solidFill>
              </a:rPr>
              <a:t>The SSP can remain unchanged while one of those dependencies changes.</a:t>
            </a:r>
            <a:endParaRPr sz="1100">
              <a:solidFill>
                <a:srgbClr val="2B2D2F"/>
              </a:solidFill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B2D2F"/>
              </a:solidFill>
            </a:endParaRPr>
          </a:p>
          <a:p xmlns:a="http://schemas.openxmlformats.org/drawingml/2006/main">
            <a:pPr marL="457200" marR="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2F"/>
              </a:buClr>
              <a:buSzPts val="1100"/>
              <a:buFont typeface="Arial"/>
              <a:buChar char="●"/>
            </a:pPr>
            <a:r>
              <a:rPr sz="1100">
                <a:solidFill>
                  <a:srgbClr val="2B2D2F"/>
                </a:solidFill>
              </a:rPr>
              <a:t>Signing only the SSP proves only that document’s canonical content.</a:t>
            </a:r>
            <a:endParaRPr sz="1100">
              <a:solidFill>
                <a:srgbClr val="2B2D2F"/>
              </a:solidFill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B2D2F"/>
              </a:solidFill>
            </a:endParaRPr>
          </a:p>
          <a:p xmlns:a="http://schemas.openxmlformats.org/drawingml/2006/main">
            <a:pPr marL="457200" marR="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2F"/>
              </a:buClr>
              <a:buSzPts val="1100"/>
              <a:buFont typeface="Arial"/>
              <a:buChar char="●"/>
            </a:pPr>
            <a:r>
              <a:rPr sz="1100">
                <a:solidFill>
                  <a:srgbClr val="2B2D2F"/>
                </a:solidFill>
              </a:rPr>
              <a:t>Teams need evidence for the exact artifact set reviewed together.</a:t>
            </a:r>
            <a:endParaRPr sz="1100">
              <a:solidFill>
                <a:srgbClr val="2B2D2F"/>
              </a:solidFill>
            </a:endParaRPr>
          </a:p>
        </p:txBody>
      </p:sp>
      <p:sp>
        <p:nvSpPr>
          <p:cNvPr id="95" name="Google Shape;95;p2">
            <a:extLst xmlns:a="http://schemas.openxmlformats.org/drawingml/2006/main">
              <a:ext uri="{FF2B5EF4-FFF2-40B4-BE49-F238E27FC236}">
                <a16:creationId xmlns:a16="http://schemas.microsoft.com/office/drawing/2014/main" id="{51A4EA3D-935F-45A0-9677-3B1659F9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250" y="1640500"/>
            <a:ext cx="3363900" cy="7503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Google Shape;96;p2">
            <a:extLst xmlns:a="http://schemas.openxmlformats.org/drawingml/2006/main">
              <a:ext uri="{FF2B5EF4-FFF2-40B4-BE49-F238E27FC236}">
                <a16:creationId xmlns:a16="http://schemas.microsoft.com/office/drawing/2014/main" id="{E0911F5C-208C-4F41-A8EF-A652E9D8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250" y="1640500"/>
            <a:ext cx="54900" cy="75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0000"/>
          </a:solidFill>
          <a:ln xmlns:a="http://schemas.openxmlformats.org/drawingml/2006/main" w="12700" cmpd="sng">
            <a:solidFill>
              <a:srgbClr val="EE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Google Shape;97;p2">
            <a:extLst xmlns:a="http://schemas.openxmlformats.org/drawingml/2006/main">
              <a:ext uri="{FF2B5EF4-FFF2-40B4-BE49-F238E27FC236}">
                <a16:creationId xmlns:a16="http://schemas.microsoft.com/office/drawing/2014/main" id="{DFCEAA28-0132-437B-8279-CEA240A4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5283" y="1711348"/>
            <a:ext cx="3116700" cy="8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Arial"/>
              <a:buNone/>
            </a:pPr>
            <a:r>
              <a:rPr sz="1000" b="1">
                <a:solidFill>
                  <a:srgbClr val="151515"/>
                </a:solidFill>
              </a:rPr>
              <a:t>The risk</a:t>
            </a:r>
            <a:endParaRPr sz="1100"/>
          </a:p>
        </p:txBody>
      </p:sp>
      <p:sp>
        <p:nvSpPr>
          <p:cNvPr id="98" name="Google Shape;98;p2">
            <a:extLst xmlns:a="http://schemas.openxmlformats.org/drawingml/2006/main">
              <a:ext uri="{FF2B5EF4-FFF2-40B4-BE49-F238E27FC236}">
                <a16:creationId xmlns:a16="http://schemas.microsoft.com/office/drawing/2014/main" id="{1C211B1F-A57D-41F5-BA7D-2B586B2D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5283" y="1846791"/>
            <a:ext cx="311670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2F"/>
              </a:buClr>
              <a:buSzPts val="800"/>
              <a:buFont typeface="Arial"/>
              <a:buNone/>
            </a:pPr>
            <a:r>
              <a:rPr sz="800">
                <a:solidFill>
                  <a:srgbClr val="2B2D2F"/>
                </a:solidFill>
              </a:rPr>
              <a:t>A valid SSP signature can coexist with a changed profile or catalog.</a:t>
            </a:r>
            <a:endParaRPr sz="1100"/>
          </a:p>
        </p:txBody>
      </p:sp>
      <p:sp>
        <p:nvSpPr>
          <p:cNvPr id="99" name="Google Shape;99;p2">
            <a:extLst xmlns:a="http://schemas.openxmlformats.org/drawingml/2006/main">
              <a:ext uri="{FF2B5EF4-FFF2-40B4-BE49-F238E27FC236}">
                <a16:creationId xmlns:a16="http://schemas.microsoft.com/office/drawing/2014/main" id="{BBC9C3EF-356A-4540-8178-DBB84CB2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250" y="2649322"/>
            <a:ext cx="3363900" cy="8649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Google Shape;100;p2">
            <a:extLst xmlns:a="http://schemas.openxmlformats.org/drawingml/2006/main">
              <a:ext uri="{FF2B5EF4-FFF2-40B4-BE49-F238E27FC236}">
                <a16:creationId xmlns:a16="http://schemas.microsoft.com/office/drawing/2014/main" id="{B7291E00-EFFC-4BE2-8015-8D3F7CAD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250" y="2649322"/>
            <a:ext cx="54900" cy="86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635"/>
          </a:solidFill>
          <a:ln xmlns:a="http://schemas.openxmlformats.org/drawingml/2006/main" w="12700" cmpd="sng">
            <a:solidFill>
              <a:srgbClr val="3E863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Google Shape;101;p2">
            <a:extLst xmlns:a="http://schemas.openxmlformats.org/drawingml/2006/main">
              <a:ext uri="{FF2B5EF4-FFF2-40B4-BE49-F238E27FC236}">
                <a16:creationId xmlns:a16="http://schemas.microsoft.com/office/drawing/2014/main" id="{64DC04FF-88F4-42AD-9156-4334D9E5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5283" y="2730995"/>
            <a:ext cx="3116700" cy="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Arial"/>
              <a:buNone/>
            </a:pPr>
            <a:r>
              <a:rPr sz="1000" b="1">
                <a:solidFill>
                  <a:srgbClr val="151515"/>
                </a:solidFill>
              </a:rPr>
              <a:t>Evidence required</a:t>
            </a:r>
            <a:endParaRPr sz="1100"/>
          </a:p>
        </p:txBody>
      </p:sp>
      <p:sp>
        <p:nvSpPr>
          <p:cNvPr id="102" name="Google Shape;102;p2">
            <a:extLst xmlns:a="http://schemas.openxmlformats.org/drawingml/2006/main">
              <a:ext uri="{FF2B5EF4-FFF2-40B4-BE49-F238E27FC236}">
                <a16:creationId xmlns:a16="http://schemas.microsoft.com/office/drawing/2014/main" id="{7832FC6C-F30B-47F2-862B-B880E7B2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5283" y="2887133"/>
            <a:ext cx="3116700" cy="57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2F"/>
              </a:buClr>
              <a:buSzPts val="800"/>
              <a:buFont typeface="Arial"/>
              <a:buNone/>
            </a:pPr>
            <a:r>
              <a:rPr sz="800">
                <a:solidFill>
                  <a:srgbClr val="2B2D2F"/>
                </a:solidFill>
              </a:rPr>
              <a:t>Verification must prove that the exact current artifact set and its canonical SHA-256 digests match the signed package claim.</a:t>
            </a:r>
            <a:endParaRPr sz="1100"/>
          </a:p>
        </p:txBody>
      </p:sp>
      <p:sp>
        <p:nvSpPr>
          <p:cNvPr id="103" name="Google Shape;103;p2">
            <a:extLst xmlns:a="http://schemas.openxmlformats.org/drawingml/2006/main">
              <a:ext uri="{FF2B5EF4-FFF2-40B4-BE49-F238E27FC236}">
                <a16:creationId xmlns:a16="http://schemas.microsoft.com/office/drawing/2014/main" id="{2B022930-4355-4C02-8CE6-B7662A49F75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93103" y="4786883"/>
            <a:ext cx="120610" cy="163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7818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Google Shape;109;p3">
            <a:extLst xmlns:a="http://schemas.openxmlformats.org/drawingml/2006/main">
              <a:ext uri="{FF2B5EF4-FFF2-40B4-BE49-F238E27FC236}">
                <a16:creationId xmlns:a16="http://schemas.microsoft.com/office/drawing/2014/main" id="{A88B788A-E8A9-46BE-81FF-208C71B2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35" y="316610"/>
            <a:ext cx="8169530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900"/>
              <a:buFont typeface="Play"/>
              <a:buNone/>
            </a:pPr>
            <a:r>
              <a:rPr sz="1900" b="1" i="0" u="none" cap="none">
                <a:solidFill>
                  <a:srgbClr val="151515"/>
                </a:solidFill>
                <a:latin typeface="Play"/>
                <a:ea typeface="Play"/>
                <a:cs typeface="Play"/>
              </a:rPr>
              <a:t>Four </a:t>
            </a:r>
            <a:r>
              <a:rPr sz="19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steps</a:t>
            </a:r>
            <a:r>
              <a:rPr sz="1900" b="1" i="0" u="none" cap="none">
                <a:solidFill>
                  <a:srgbClr val="151515"/>
                </a:solidFill>
                <a:latin typeface="Play"/>
                <a:ea typeface="Play"/>
                <a:cs typeface="Play"/>
              </a:rPr>
              <a:t> create practical trust</a:t>
            </a:r>
            <a:endParaRPr sz="1100"/>
          </a:p>
        </p:txBody>
      </p:sp>
      <p:sp>
        <p:nvSpPr>
          <p:cNvPr id="110" name="Google Shape;110;p3">
            <a:extLst xmlns:a="http://schemas.openxmlformats.org/drawingml/2006/main">
              <a:ext uri="{FF2B5EF4-FFF2-40B4-BE49-F238E27FC236}">
                <a16:creationId xmlns:a16="http://schemas.microsoft.com/office/drawing/2014/main" id="{FCD7ABDB-2937-4430-9233-7D833A26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64" y="697230"/>
            <a:ext cx="8032228" cy="12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rPr>
              <a:t>The same integrity model works for one file and for a dependency package.</a:t>
            </a:r>
            <a:endParaRPr sz="1100"/>
          </a:p>
        </p:txBody>
      </p:sp>
      <p:sp>
        <p:nvSpPr>
          <p:cNvPr id="111" name="Google Shape;111;p3">
            <a:extLst xmlns:a="http://schemas.openxmlformats.org/drawingml/2006/main">
              <a:ext uri="{FF2B5EF4-FFF2-40B4-BE49-F238E27FC236}">
                <a16:creationId xmlns:a16="http://schemas.microsoft.com/office/drawing/2014/main" id="{C70A9196-7AF8-454A-B150-BB17A3E5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63" y="1476845"/>
            <a:ext cx="1544700" cy="5625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mpd="sng">
            <a:solidFill>
              <a:srgbClr val="0066C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Google Shape;112;p3">
            <a:extLst xmlns:a="http://schemas.openxmlformats.org/drawingml/2006/main">
              <a:ext uri="{FF2B5EF4-FFF2-40B4-BE49-F238E27FC236}">
                <a16:creationId xmlns:a16="http://schemas.microsoft.com/office/drawing/2014/main" id="{1B172FF2-8020-46B0-9AF8-1A20B114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14" y="1662011"/>
            <a:ext cx="14073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Canonicalize</a:t>
            </a:r>
            <a:endParaRPr sz="1100"/>
          </a:p>
        </p:txBody>
      </p:sp>
      <p:sp>
        <p:nvSpPr>
          <p:cNvPr id="113" name="Google Shape;113;p3">
            <a:extLst xmlns:a="http://schemas.openxmlformats.org/drawingml/2006/main">
              <a:ext uri="{FF2B5EF4-FFF2-40B4-BE49-F238E27FC236}">
                <a16:creationId xmlns:a16="http://schemas.microsoft.com/office/drawing/2014/main" id="{09449D80-A5C2-481E-87B7-D1D0CD45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743" y="1675726"/>
            <a:ext cx="2676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Google Shape;114;p3">
            <a:extLst xmlns:a="http://schemas.openxmlformats.org/drawingml/2006/main">
              <a:ext uri="{FF2B5EF4-FFF2-40B4-BE49-F238E27FC236}">
                <a16:creationId xmlns:a16="http://schemas.microsoft.com/office/drawing/2014/main" id="{D065A692-115D-463F-B85A-D681EE0C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404" y="1476845"/>
            <a:ext cx="1544700" cy="5625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6753AC"/>
          </a:solidFill>
          <a:ln xmlns:a="http://schemas.openxmlformats.org/drawingml/2006/main" w="12700" cmpd="sng">
            <a:solidFill>
              <a:srgbClr val="6753A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Google Shape;115;p3">
            <a:extLst xmlns:a="http://schemas.openxmlformats.org/drawingml/2006/main">
              <a:ext uri="{FF2B5EF4-FFF2-40B4-BE49-F238E27FC236}">
                <a16:creationId xmlns:a16="http://schemas.microsoft.com/office/drawing/2014/main" id="{024360A1-45DF-40CF-B8E4-A2DCA090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057" y="1662011"/>
            <a:ext cx="14073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Digest</a:t>
            </a:r>
            <a:endParaRPr sz="1100"/>
          </a:p>
        </p:txBody>
      </p:sp>
      <p:sp>
        <p:nvSpPr>
          <p:cNvPr id="116" name="Google Shape;116;p3">
            <a:extLst xmlns:a="http://schemas.openxmlformats.org/drawingml/2006/main">
              <a:ext uri="{FF2B5EF4-FFF2-40B4-BE49-F238E27FC236}">
                <a16:creationId xmlns:a16="http://schemas.microsoft.com/office/drawing/2014/main" id="{E3C8F199-1918-4049-8D9C-26A99E2C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985" y="1675726"/>
            <a:ext cx="2676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Google Shape;117;p3">
            <a:extLst xmlns:a="http://schemas.openxmlformats.org/drawingml/2006/main">
              <a:ext uri="{FF2B5EF4-FFF2-40B4-BE49-F238E27FC236}">
                <a16:creationId xmlns:a16="http://schemas.microsoft.com/office/drawing/2014/main" id="{FF242C96-7829-492A-A489-A3B81EF9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647" y="1476845"/>
            <a:ext cx="1544700" cy="5625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E0000"/>
          </a:solidFill>
          <a:ln xmlns:a="http://schemas.openxmlformats.org/drawingml/2006/main" w="12700" cmpd="sng">
            <a:solidFill>
              <a:srgbClr val="EE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Google Shape;118;p3">
            <a:extLst xmlns:a="http://schemas.openxmlformats.org/drawingml/2006/main">
              <a:ext uri="{FF2B5EF4-FFF2-40B4-BE49-F238E27FC236}">
                <a16:creationId xmlns:a16="http://schemas.microsoft.com/office/drawing/2014/main" id="{B2F94591-F644-4166-8097-278AC92E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299" y="1662011"/>
            <a:ext cx="14073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</a:t>
            </a:r>
            <a:endParaRPr sz="1100"/>
          </a:p>
        </p:txBody>
      </p:sp>
      <p:sp>
        <p:nvSpPr>
          <p:cNvPr id="119" name="Google Shape;119;p3">
            <a:extLst xmlns:a="http://schemas.openxmlformats.org/drawingml/2006/main">
              <a:ext uri="{FF2B5EF4-FFF2-40B4-BE49-F238E27FC236}">
                <a16:creationId xmlns:a16="http://schemas.microsoft.com/office/drawing/2014/main" id="{DB5915C2-A77E-4913-88B7-173A360A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227" y="1675726"/>
            <a:ext cx="2676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Google Shape;120;p3">
            <a:extLst xmlns:a="http://schemas.openxmlformats.org/drawingml/2006/main">
              <a:ext uri="{FF2B5EF4-FFF2-40B4-BE49-F238E27FC236}">
                <a16:creationId xmlns:a16="http://schemas.microsoft.com/office/drawing/2014/main" id="{9135DC77-26BC-4EFD-BF97-091821E0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890" y="1476845"/>
            <a:ext cx="1544700" cy="5625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3E8635"/>
          </a:solidFill>
          <a:ln xmlns:a="http://schemas.openxmlformats.org/drawingml/2006/main" w="12700" cmpd="sng">
            <a:solidFill>
              <a:srgbClr val="3E863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Google Shape;121;p3">
            <a:extLst xmlns:a="http://schemas.openxmlformats.org/drawingml/2006/main">
              <a:ext uri="{FF2B5EF4-FFF2-40B4-BE49-F238E27FC236}">
                <a16:creationId xmlns:a16="http://schemas.microsoft.com/office/drawing/2014/main" id="{7BCE5EEF-6009-455F-B827-04D591F2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541" y="1662011"/>
            <a:ext cx="14073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</a:t>
            </a:r>
            <a:endParaRPr sz="1100"/>
          </a:p>
        </p:txBody>
      </p:sp>
      <p:sp>
        <p:nvSpPr>
          <p:cNvPr id="122" name="Google Shape;122;p3">
            <a:extLst xmlns:a="http://schemas.openxmlformats.org/drawingml/2006/main">
              <a:ext uri="{FF2B5EF4-FFF2-40B4-BE49-F238E27FC236}">
                <a16:creationId xmlns:a16="http://schemas.microsoft.com/office/drawing/2014/main" id="{077DFC90-92ED-499A-8B5B-6B816086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13" y="2755600"/>
            <a:ext cx="2574300" cy="12888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Google Shape;123;p3">
            <a:extLst xmlns:a="http://schemas.openxmlformats.org/drawingml/2006/main">
              <a:ext uri="{FF2B5EF4-FFF2-40B4-BE49-F238E27FC236}">
                <a16:creationId xmlns:a16="http://schemas.microsoft.com/office/drawing/2014/main" id="{1BA76AB5-BCEB-44D6-A783-2391C2BB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13" y="2755600"/>
            <a:ext cx="54900" cy="12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2700" cmpd="sng">
            <a:solidFill>
              <a:srgbClr val="0066C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Google Shape;124;p3">
            <a:extLst xmlns:a="http://schemas.openxmlformats.org/drawingml/2006/main">
              <a:ext uri="{FF2B5EF4-FFF2-40B4-BE49-F238E27FC236}">
                <a16:creationId xmlns:a16="http://schemas.microsoft.com/office/drawing/2014/main" id="{95B52EE7-5AE1-414F-8FD9-F7883A43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45" y="2859187"/>
            <a:ext cx="23274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151515"/>
                </a:solidFill>
                <a:latin typeface="Arial"/>
                <a:ea typeface="Arial"/>
                <a:cs typeface="Arial"/>
              </a:rPr>
              <a:t>Stable artifact identity</a:t>
            </a:r>
            <a:endParaRPr sz="1100"/>
          </a:p>
        </p:txBody>
      </p:sp>
      <p:sp>
        <p:nvSpPr>
          <p:cNvPr id="125" name="Google Shape;125;p3">
            <a:extLst xmlns:a="http://schemas.openxmlformats.org/drawingml/2006/main">
              <a:ext uri="{FF2B5EF4-FFF2-40B4-BE49-F238E27FC236}">
                <a16:creationId xmlns:a16="http://schemas.microsoft.com/office/drawing/2014/main" id="{F6FC3376-80EA-4F69-90E0-11081897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45" y="3057223"/>
            <a:ext cx="2327400" cy="9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2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2B2D2F"/>
                </a:solidFill>
                <a:latin typeface="Arial"/>
                <a:ea typeface="Arial"/>
                <a:cs typeface="Arial"/>
              </a:rPr>
              <a:t>RFC 8785 removes formatting differences so equivalent JSON produces the same bytes and digest.</a:t>
            </a:r>
            <a:endParaRPr sz="1100"/>
          </a:p>
        </p:txBody>
      </p:sp>
      <p:sp>
        <p:nvSpPr>
          <p:cNvPr id="126" name="Google Shape;126;p3">
            <a:extLst xmlns:a="http://schemas.openxmlformats.org/drawingml/2006/main">
              <a:ext uri="{FF2B5EF4-FFF2-40B4-BE49-F238E27FC236}">
                <a16:creationId xmlns:a16="http://schemas.microsoft.com/office/drawing/2014/main" id="{C0A181A4-49A3-4AB7-9C31-46EF410E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939" y="2755600"/>
            <a:ext cx="2574300" cy="12888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Google Shape;127;p3">
            <a:extLst xmlns:a="http://schemas.openxmlformats.org/drawingml/2006/main">
              <a:ext uri="{FF2B5EF4-FFF2-40B4-BE49-F238E27FC236}">
                <a16:creationId xmlns:a16="http://schemas.microsoft.com/office/drawing/2014/main" id="{6B811F60-6284-486A-9C60-5DF7412D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939" y="2755600"/>
            <a:ext cx="54900" cy="12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0000"/>
          </a:solidFill>
          <a:ln xmlns:a="http://schemas.openxmlformats.org/drawingml/2006/main" w="12700" cmpd="sng">
            <a:solidFill>
              <a:srgbClr val="EE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Google Shape;128;p3">
            <a:extLst xmlns:a="http://schemas.openxmlformats.org/drawingml/2006/main">
              <a:ext uri="{FF2B5EF4-FFF2-40B4-BE49-F238E27FC236}">
                <a16:creationId xmlns:a16="http://schemas.microsoft.com/office/drawing/2014/main" id="{87D00ECD-1717-4F14-931A-E0D4CB6C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9972" y="2859187"/>
            <a:ext cx="23274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151515"/>
                </a:solidFill>
                <a:latin typeface="Arial"/>
                <a:ea typeface="Arial"/>
                <a:cs typeface="Arial"/>
              </a:rPr>
              <a:t>Portable proof</a:t>
            </a:r>
            <a:endParaRPr sz="1100"/>
          </a:p>
        </p:txBody>
      </p:sp>
      <p:sp>
        <p:nvSpPr>
          <p:cNvPr id="129" name="Google Shape;129;p3">
            <a:extLst xmlns:a="http://schemas.openxmlformats.org/drawingml/2006/main">
              <a:ext uri="{FF2B5EF4-FFF2-40B4-BE49-F238E27FC236}">
                <a16:creationId xmlns:a16="http://schemas.microsoft.com/office/drawing/2014/main" id="{5B6EAE2D-BEE4-4619-B44F-212B9AAF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9972" y="3057223"/>
            <a:ext cx="2327400" cy="9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2F"/>
              </a:buClr>
              <a:buSzPts val="800"/>
              <a:buFont typeface="Arial"/>
              <a:buNone/>
            </a:pPr>
            <a:r>
              <a:rPr sz="800">
                <a:solidFill>
                  <a:srgbClr val="2B2D2F"/>
                </a:solidFill>
              </a:rPr>
              <a:t>A detached DSSE envelope containing an in-toto Statement records what was approved without modifying the original JSON.</a:t>
            </a:r>
            <a:endParaRPr sz="1100"/>
          </a:p>
        </p:txBody>
      </p:sp>
      <p:sp>
        <p:nvSpPr>
          <p:cNvPr id="130" name="Google Shape;130;p3">
            <a:extLst xmlns:a="http://schemas.openxmlformats.org/drawingml/2006/main">
              <a:ext uri="{FF2B5EF4-FFF2-40B4-BE49-F238E27FC236}">
                <a16:creationId xmlns:a16="http://schemas.microsoft.com/office/drawing/2014/main" id="{895A5EF3-3FC7-41CE-8E61-95C7209F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664" y="2755600"/>
            <a:ext cx="2574300" cy="12888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Google Shape;131;p3">
            <a:extLst xmlns:a="http://schemas.openxmlformats.org/drawingml/2006/main">
              <a:ext uri="{FF2B5EF4-FFF2-40B4-BE49-F238E27FC236}">
                <a16:creationId xmlns:a16="http://schemas.microsoft.com/office/drawing/2014/main" id="{BCA8BC38-2D9D-4540-9065-91D50118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664" y="2755600"/>
            <a:ext cx="54900" cy="128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635"/>
          </a:solidFill>
          <a:ln xmlns:a="http://schemas.openxmlformats.org/drawingml/2006/main" w="12700" cmpd="sng">
            <a:solidFill>
              <a:srgbClr val="3E863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Google Shape;132;p3">
            <a:extLst xmlns:a="http://schemas.openxmlformats.org/drawingml/2006/main">
              <a:ext uri="{FF2B5EF4-FFF2-40B4-BE49-F238E27FC236}">
                <a16:creationId xmlns:a16="http://schemas.microsoft.com/office/drawing/2014/main" id="{5533F7EB-4816-4606-BD3B-3CC72E34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698" y="2859187"/>
            <a:ext cx="23274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151515"/>
                </a:solidFill>
                <a:latin typeface="Arial"/>
                <a:ea typeface="Arial"/>
                <a:cs typeface="Arial"/>
              </a:rPr>
              <a:t>Actionable failure</a:t>
            </a:r>
            <a:endParaRPr sz="1100"/>
          </a:p>
        </p:txBody>
      </p:sp>
      <p:sp>
        <p:nvSpPr>
          <p:cNvPr id="133" name="Google Shape;133;p3">
            <a:extLst xmlns:a="http://schemas.openxmlformats.org/drawingml/2006/main">
              <a:ext uri="{FF2B5EF4-FFF2-40B4-BE49-F238E27FC236}">
                <a16:creationId xmlns:a16="http://schemas.microsoft.com/office/drawing/2014/main" id="{85EBACFF-25BD-4A21-80D3-85FB4982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698" y="3057223"/>
            <a:ext cx="2327400" cy="9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2F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2B2D2F"/>
                </a:solidFill>
                <a:latin typeface="Arial"/>
                <a:ea typeface="Arial"/>
                <a:cs typeface="Arial"/>
              </a:rPr>
              <a:t>Verification rejects altered content, wrong keys, and unexpected claims; package mode checks every listed artifact.</a:t>
            </a:r>
            <a:endParaRPr sz="1100"/>
          </a:p>
        </p:txBody>
      </p:sp>
      <p:sp>
        <p:nvSpPr>
          <p:cNvPr id="134" name="Google Shape;134;p3">
            <a:extLst xmlns:a="http://schemas.openxmlformats.org/drawingml/2006/main">
              <a:ext uri="{FF2B5EF4-FFF2-40B4-BE49-F238E27FC236}">
                <a16:creationId xmlns:a16="http://schemas.microsoft.com/office/drawing/2014/main" id="{BF94BD60-5C94-48AC-8771-FD689D18349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93103" y="4786883"/>
            <a:ext cx="120610" cy="163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53225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4">
            <a:extLst xmlns:a="http://schemas.openxmlformats.org/drawingml/2006/main">
              <a:ext uri="{FF2B5EF4-FFF2-40B4-BE49-F238E27FC236}">
                <a16:creationId xmlns:a16="http://schemas.microsoft.com/office/drawing/2014/main" id="{081347B3-A4A0-4D39-9563-E255602F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35" y="316610"/>
            <a:ext cx="8169600" cy="28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900"/>
              <a:buFont typeface="Play"/>
              <a:buNone/>
            </a:pPr>
            <a:r>
              <a:rPr sz="19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The same JSON content should verify as the same artifact</a:t>
            </a:r>
            <a:endParaRPr sz="1100"/>
          </a:p>
        </p:txBody>
      </p:sp>
      <p:sp>
        <p:nvSpPr>
          <p:cNvPr id="141" name="Google Shape;141;p4">
            <a:extLst xmlns:a="http://schemas.openxmlformats.org/drawingml/2006/main">
              <a:ext uri="{FF2B5EF4-FFF2-40B4-BE49-F238E27FC236}">
                <a16:creationId xmlns:a16="http://schemas.microsoft.com/office/drawing/2014/main" id="{8A9C5E97-64B1-4E52-A8A7-FDFC8991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64" y="697230"/>
            <a:ext cx="80322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rPr>
              <a:t>RFC 8785 removes editor formatting from the integrity decision.</a:t>
            </a:r>
            <a:endParaRPr sz="1100"/>
          </a:p>
        </p:txBody>
      </p:sp>
      <p:sp>
        <p:nvSpPr>
          <p:cNvPr id="142" name="Google Shape;142;p4">
            <a:extLst xmlns:a="http://schemas.openxmlformats.org/drawingml/2006/main">
              <a:ext uri="{FF2B5EF4-FFF2-40B4-BE49-F238E27FC236}">
                <a16:creationId xmlns:a16="http://schemas.microsoft.com/office/drawing/2014/main" id="{D49C999A-F2A5-4F11-92A7-9E15BA62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00" y="1126350"/>
            <a:ext cx="2190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Input A (Pretty Printed)</a:t>
            </a:r>
            <a:endParaRPr sz="10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Google Shape;143;p4">
            <a:extLst xmlns:a="http://schemas.openxmlformats.org/drawingml/2006/main">
              <a:ext uri="{FF2B5EF4-FFF2-40B4-BE49-F238E27FC236}">
                <a16:creationId xmlns:a16="http://schemas.microsoft.com/office/drawing/2014/main" id="{8DEF3A47-2F7A-482D-A07C-3CF06BC6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00" y="1466975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>
            <a:extLst xmlns:a="http://schemas.openxmlformats.org/drawingml/2006/main">
              <a:ext uri="{FF2B5EF4-FFF2-40B4-BE49-F238E27FC236}">
                <a16:creationId xmlns:a16="http://schemas.microsoft.com/office/drawing/2014/main" id="{A82D847F-E1AF-47B0-9980-8B81A8F9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00" y="1624175"/>
            <a:ext cx="2190900" cy="7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B2D2F"/>
                </a:solidFill>
                <a:latin typeface="Courier New"/>
                <a:ea typeface="Courier New"/>
                <a:cs typeface="Courier New"/>
              </a:rPr>
              <a:t>{</a:t>
            </a:r>
            <a:endParaRPr sz="1100" b="1">
              <a:solidFill>
                <a:srgbClr val="2B2D2F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142875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B2D2F"/>
                </a:solidFill>
                <a:latin typeface="Courier New"/>
                <a:ea typeface="Courier New"/>
                <a:cs typeface="Courier New"/>
              </a:rPr>
              <a:t>"b": 2,</a:t>
            </a:r>
            <a:endParaRPr sz="1100" b="1">
              <a:solidFill>
                <a:srgbClr val="2B2D2F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142875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B2D2F"/>
                </a:solidFill>
                <a:latin typeface="Courier New"/>
                <a:ea typeface="Courier New"/>
                <a:cs typeface="Courier New"/>
              </a:rPr>
              <a:t>"a": 1</a:t>
            </a:r>
            <a:endParaRPr sz="1100" b="1">
              <a:solidFill>
                <a:srgbClr val="2B2D2F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B2D2F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 b="1">
              <a:solidFill>
                <a:srgbClr val="2B2D2F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45" name="Google Shape;145;p4">
            <a:extLst xmlns:a="http://schemas.openxmlformats.org/drawingml/2006/main">
              <a:ext uri="{FF2B5EF4-FFF2-40B4-BE49-F238E27FC236}">
                <a16:creationId xmlns:a16="http://schemas.microsoft.com/office/drawing/2014/main" id="{B0080D12-06B9-4753-883D-E9250D1C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00" y="2681313"/>
            <a:ext cx="2190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Input B (Minified)</a:t>
            </a:r>
            <a:endParaRPr sz="10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Google Shape;146;p4">
            <a:extLst xmlns:a="http://schemas.openxmlformats.org/drawingml/2006/main">
              <a:ext uri="{FF2B5EF4-FFF2-40B4-BE49-F238E27FC236}">
                <a16:creationId xmlns:a16="http://schemas.microsoft.com/office/drawing/2014/main" id="{A67D9F69-92FC-422D-B68E-F75B636A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00" y="3000300"/>
            <a:ext cx="2476500" cy="6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>
            <a:extLst xmlns:a="http://schemas.openxmlformats.org/drawingml/2006/main">
              <a:ext uri="{FF2B5EF4-FFF2-40B4-BE49-F238E27FC236}">
                <a16:creationId xmlns:a16="http://schemas.microsoft.com/office/drawing/2014/main" id="{2F9EA652-BAAF-4B15-946A-F688E0FE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00" y="3214650"/>
            <a:ext cx="2190900" cy="4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B2D2F"/>
                </a:solidFill>
                <a:latin typeface="Courier New"/>
                <a:ea typeface="Courier New"/>
                <a:cs typeface="Courier New"/>
              </a:rPr>
              <a:t>{"a":1,"b":2}</a:t>
            </a:r>
            <a:endParaRPr sz="1100" b="1">
              <a:solidFill>
                <a:srgbClr val="2B2D2F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48" name="Google Shape;148;p4">
            <a:extLst xmlns:a="http://schemas.openxmlformats.org/drawingml/2006/main">
              <a:ext uri="{FF2B5EF4-FFF2-40B4-BE49-F238E27FC236}">
                <a16:creationId xmlns:a16="http://schemas.microsoft.com/office/drawing/2014/main" id="{4E7E7E1C-9DE7-42EC-9865-957647C8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00" cy="428700"/>
          </a:xfrm>
          <a:prstGeom xmlns:a="http://schemas.openxmlformats.org/drawingml/2006/main" prst="roundRect">
            <a:avLst>
              <a:gd name="adj" fmla="val 8888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9525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>
            <a:extLst xmlns:a="http://schemas.openxmlformats.org/drawingml/2006/main">
              <a:ext uri="{FF2B5EF4-FFF2-40B4-BE49-F238E27FC236}">
                <a16:creationId xmlns:a16="http://schemas.microsoft.com/office/drawing/2014/main" id="{2DF83A9F-3B8F-4040-9594-609E1843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285875"/>
            <a:ext cx="1190700" cy="33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parse JSON</a:t>
            </a:r>
            <a:endParaRPr sz="9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76" name="Google Shape;150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aa080f8141465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857750" y="1381125"/>
            <a:ext cx="142800" cy="142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1" name="Google Shape;151;p4">
            <a:extLst xmlns:a="http://schemas.openxmlformats.org/drawingml/2006/main">
              <a:ext uri="{FF2B5EF4-FFF2-40B4-BE49-F238E27FC236}">
                <a16:creationId xmlns:a16="http://schemas.microsoft.com/office/drawing/2014/main" id="{B91C39E3-0571-4DEE-BA1F-03E4A658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238250"/>
            <a:ext cx="1285800" cy="428700"/>
          </a:xfrm>
          <a:prstGeom xmlns:a="http://schemas.openxmlformats.org/drawingml/2006/main" prst="roundRect">
            <a:avLst>
              <a:gd name="adj" fmla="val 8888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 cmpd="sng">
            <a:solidFill>
              <a:srgbClr val="0066C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>
            <a:extLst xmlns:a="http://schemas.openxmlformats.org/drawingml/2006/main">
              <a:ext uri="{FF2B5EF4-FFF2-40B4-BE49-F238E27FC236}">
                <a16:creationId xmlns:a16="http://schemas.microsoft.com/office/drawing/2014/main" id="{AB30020D-A9BE-4588-A895-5039C276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285875"/>
            <a:ext cx="1190700" cy="33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RFC 8785 serialize</a:t>
            </a:r>
            <a:endParaRPr sz="9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79" name="Google Shape;153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aa080f8141465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72250" y="1381125"/>
            <a:ext cx="142800" cy="142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4" name="Google Shape;154;p4">
            <a:extLst xmlns:a="http://schemas.openxmlformats.org/drawingml/2006/main">
              <a:ext uri="{FF2B5EF4-FFF2-40B4-BE49-F238E27FC236}">
                <a16:creationId xmlns:a16="http://schemas.microsoft.com/office/drawing/2014/main" id="{41A10AF7-1F59-4568-A108-A5CC5E0F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38250"/>
            <a:ext cx="1285800" cy="428700"/>
          </a:xfrm>
          <a:prstGeom xmlns:a="http://schemas.openxmlformats.org/drawingml/2006/main" prst="roundRect">
            <a:avLst>
              <a:gd name="adj" fmla="val 8888"/>
            </a:avLst>
          </a:prstGeom>
          <a:solidFill xmlns:a="http://schemas.openxmlformats.org/drawingml/2006/main">
            <a:srgbClr val="3E8635"/>
          </a:solidFill>
          <a:ln xmlns:a="http://schemas.openxmlformats.org/drawingml/2006/main" w="9525" cmpd="sng">
            <a:solidFill>
              <a:srgbClr val="3E863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>
            <a:extLst xmlns:a="http://schemas.openxmlformats.org/drawingml/2006/main">
              <a:ext uri="{FF2B5EF4-FFF2-40B4-BE49-F238E27FC236}">
                <a16:creationId xmlns:a16="http://schemas.microsoft.com/office/drawing/2014/main" id="{C07472A7-03E8-4BD6-99FA-CC688F61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285875"/>
            <a:ext cx="1190700" cy="33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canonical bytes</a:t>
            </a:r>
            <a:endParaRPr sz="9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Google Shape;156;p4">
            <a:extLst xmlns:a="http://schemas.openxmlformats.org/drawingml/2006/main">
              <a:ext uri="{FF2B5EF4-FFF2-40B4-BE49-F238E27FC236}">
                <a16:creationId xmlns:a16="http://schemas.microsoft.com/office/drawing/2014/main" id="{B45DA78D-BA84-4FE5-9771-AC4D257A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1285800" cy="4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3E863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>
            <a:extLst xmlns:a="http://schemas.openxmlformats.org/drawingml/2006/main">
              <a:ext uri="{FF2B5EF4-FFF2-40B4-BE49-F238E27FC236}">
                <a16:creationId xmlns:a16="http://schemas.microsoft.com/office/drawing/2014/main" id="{1D338308-C6DB-4D46-BCBA-10E8B23F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47875"/>
            <a:ext cx="1190700" cy="33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3E8635"/>
                </a:solidFill>
                <a:latin typeface="Courier New"/>
                <a:ea typeface="Courier New"/>
                <a:cs typeface="Courier New"/>
              </a:rPr>
              <a:t>{"a":1,"b":2}</a:t>
            </a:r>
            <a:endParaRPr sz="950" b="1">
              <a:solidFill>
                <a:srgbClr val="3E8635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59" name="Google Shape;159;p4">
            <a:extLst xmlns:a="http://schemas.openxmlformats.org/drawingml/2006/main">
              <a:ext uri="{FF2B5EF4-FFF2-40B4-BE49-F238E27FC236}">
                <a16:creationId xmlns:a16="http://schemas.microsoft.com/office/drawing/2014/main" id="{E4CC818B-41A8-4487-83A1-0AB7952B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29075" y="2809878"/>
            <a:ext cx="4714800" cy="145201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>
            <a:extLst xmlns:a="http://schemas.openxmlformats.org/drawingml/2006/main">
              <a:ext uri="{FF2B5EF4-FFF2-40B4-BE49-F238E27FC236}">
                <a16:creationId xmlns:a16="http://schemas.microsoft.com/office/drawing/2014/main" id="{60F7C5CE-A571-40F4-8133-88F37860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29075" y="2809878"/>
            <a:ext cx="52500" cy="1452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">
            <a:extLst xmlns:a="http://schemas.openxmlformats.org/drawingml/2006/main">
              <a:ext uri="{FF2B5EF4-FFF2-40B4-BE49-F238E27FC236}">
                <a16:creationId xmlns:a16="http://schemas.microsoft.com/office/drawing/2014/main" id="{C1910B0F-1A37-4481-BCFE-7BB26DAE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67200" y="2930878"/>
            <a:ext cx="4286400" cy="121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Reliable Integrity Decision</a:t>
            </a:r>
            <a:endParaRPr sz="11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lvl="0" indent="-288925" algn="l">
              <a:spcBef>
                <a:spcPts val="900"/>
              </a:spcBef>
              <a:spcAft>
                <a:spcPts val="0"/>
              </a:spcAft>
              <a:buClr>
                <a:srgbClr val="2B2D2F"/>
              </a:buClr>
              <a:buSzPts val="950"/>
              <a:buFont typeface="Arial"/>
              <a:buChar char="●"/>
            </a:pPr>
            <a:r>
              <a:rPr sz="950">
                <a:solidFill>
                  <a:srgbClr val="2B2D2F"/>
                </a:solidFill>
                <a:latin typeface="Arial"/>
                <a:ea typeface="Arial"/>
                <a:cs typeface="Arial"/>
              </a:rPr>
              <a:t>Whitespace and key order no longer create false failures.</a:t>
            </a:r>
            <a:endParaRPr sz="950">
              <a:solidFill>
                <a:srgbClr val="2B2D2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lvl="0" indent="-288925" algn="l">
              <a:spcBef>
                <a:spcPts val="600"/>
              </a:spcBef>
              <a:spcAft>
                <a:spcPts val="0"/>
              </a:spcAft>
              <a:buClr>
                <a:srgbClr val="2B2D2F"/>
              </a:buClr>
              <a:buSzPts val="950"/>
              <a:buFont typeface="Arial"/>
              <a:buChar char="●"/>
            </a:pPr>
            <a:r>
              <a:rPr sz="950">
                <a:solidFill>
                  <a:srgbClr val="2B2D2F"/>
                </a:solidFill>
                <a:latin typeface="Arial"/>
                <a:ea typeface="Arial"/>
                <a:cs typeface="Arial"/>
              </a:rPr>
              <a:t>The digest represents canonical JSON content, not one editor's serialization.</a:t>
            </a:r>
            <a:endParaRPr sz="950">
              <a:solidFill>
                <a:srgbClr val="2B2D2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lvl="0" indent="-288925" algn="l">
              <a:spcBef>
                <a:spcPts val="600"/>
              </a:spcBef>
              <a:spcAft>
                <a:spcPts val="0"/>
              </a:spcAft>
              <a:buClr>
                <a:srgbClr val="2B2D2F"/>
              </a:buClr>
              <a:buSzPts val="950"/>
              <a:buFont typeface="Arial"/>
              <a:buChar char="●"/>
            </a:pPr>
            <a:r>
              <a:rPr sz="950">
                <a:solidFill>
                  <a:srgbClr val="2B2D2F"/>
                </a:solidFill>
                <a:latin typeface="Arial"/>
                <a:ea typeface="Arial"/>
                <a:cs typeface="Arial"/>
              </a:rPr>
              <a:t>Ambiguous or invalid JSON is rejected before approval.</a:t>
            </a:r>
            <a:endParaRPr sz="950">
              <a:solidFill>
                <a:srgbClr val="2B2D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Google Shape;162;p4">
            <a:extLst xmlns:a="http://schemas.openxmlformats.org/drawingml/2006/main">
              <a:ext uri="{FF2B5EF4-FFF2-40B4-BE49-F238E27FC236}">
                <a16:creationId xmlns:a16="http://schemas.microsoft.com/office/drawing/2014/main" id="{725A810E-5B0B-45AF-A039-2EC5FC01B3E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93103" y="4786883"/>
            <a:ext cx="1206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  <p:pic>
        <p:nvPicPr>
          <p:cNvPr id="188" name="Google Shape;163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50161e70ac4b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29500" y="1762125"/>
            <a:ext cx="142800" cy="142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481048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9" name="Google Shape;169;p5">
            <a:extLst xmlns:a="http://schemas.openxmlformats.org/drawingml/2006/main">
              <a:ext uri="{FF2B5EF4-FFF2-40B4-BE49-F238E27FC236}">
                <a16:creationId xmlns:a16="http://schemas.microsoft.com/office/drawing/2014/main" id="{D824314A-DA7F-4D42-B82E-5F29A824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-1"/>
            <a:ext cx="9153300" cy="8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0000"/>
          </a:solidFill>
          <a:ln xmlns:a="http://schemas.openxmlformats.org/drawingml/2006/main" w="12700" cmpd="sng">
            <a:solidFill>
              <a:srgbClr val="EE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Google Shape;170;p5">
            <a:extLst xmlns:a="http://schemas.openxmlformats.org/drawingml/2006/main">
              <a:ext uri="{FF2B5EF4-FFF2-40B4-BE49-F238E27FC236}">
                <a16:creationId xmlns:a16="http://schemas.microsoft.com/office/drawing/2014/main" id="{743B1C66-C960-4319-BA11-01E530B9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4000500" cy="20475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" name="Google Shape;171;p5"/>
          <p:cNvCxnSpPr/>
          <p:nvPr/>
        </p:nvCxnSpPr>
        <p:spPr>
          <a:xfrm xmlns:a="http://schemas.openxmlformats.org/drawingml/2006/main">
            <a:off x="446234" y="4745735"/>
            <a:ext cx="8272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5">
            <a:extLst xmlns:a="http://schemas.openxmlformats.org/drawingml/2006/main">
              <a:ext uri="{FF2B5EF4-FFF2-40B4-BE49-F238E27FC236}">
                <a16:creationId xmlns:a16="http://schemas.microsoft.com/office/drawing/2014/main" id="{A77F41EB-FA71-481F-8829-F6D593E0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57300" cy="204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>
            <a:extLst xmlns:a="http://schemas.openxmlformats.org/drawingml/2006/main">
              <a:ext uri="{FF2B5EF4-FFF2-40B4-BE49-F238E27FC236}">
                <a16:creationId xmlns:a16="http://schemas.microsoft.com/office/drawing/2014/main" id="{6612E457-F579-40E7-B1D7-1B25BF19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61" y="4800981"/>
            <a:ext cx="5011500" cy="16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rPr>
              <a:t>compliance-trestle | OSCAL artifact integrity</a:t>
            </a:r>
            <a:endParaRPr sz="1100"/>
          </a:p>
        </p:txBody>
      </p:sp>
      <p:sp>
        <p:nvSpPr>
          <p:cNvPr id="174" name="Google Shape;174;p5">
            <a:extLst xmlns:a="http://schemas.openxmlformats.org/drawingml/2006/main">
              <a:ext uri="{FF2B5EF4-FFF2-40B4-BE49-F238E27FC236}">
                <a16:creationId xmlns:a16="http://schemas.microsoft.com/office/drawing/2014/main" id="{9F42829C-5BDD-4430-8D89-4042FD72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7254"/>
            <a:ext cx="3524400" cy="2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11827"/>
                </a:solidFill>
                <a:latin typeface="Play"/>
                <a:ea typeface="Play"/>
                <a:cs typeface="Play"/>
              </a:rPr>
              <a:t>What the signer approves</a:t>
            </a:r>
            <a:endParaRPr sz="1300" b="1">
              <a:solidFill>
                <a:srgbClr val="111827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75" name="Google Shape;175;p5">
            <a:extLst xmlns:a="http://schemas.openxmlformats.org/drawingml/2006/main">
              <a:ext uri="{FF2B5EF4-FFF2-40B4-BE49-F238E27FC236}">
                <a16:creationId xmlns:a16="http://schemas.microsoft.com/office/drawing/2014/main" id="{7E62ADDE-112D-4F6C-85BB-ECF24D4E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35" y="316610"/>
            <a:ext cx="8169600" cy="28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900"/>
              <a:buFont typeface="Play"/>
              <a:buNone/>
            </a:pPr>
            <a:r>
              <a:rPr sz="1900" b="1" i="0" u="none" cap="none">
                <a:solidFill>
                  <a:srgbClr val="151515"/>
                </a:solidFill>
                <a:latin typeface="Play"/>
                <a:ea typeface="Play"/>
                <a:cs typeface="Play"/>
              </a:rPr>
              <a:t>Signing creates evidence without changing the artifact</a:t>
            </a:r>
            <a:endParaRPr sz="1100"/>
          </a:p>
        </p:txBody>
      </p:sp>
      <p:sp>
        <p:nvSpPr>
          <p:cNvPr id="176" name="Google Shape;176;p5">
            <a:extLst xmlns:a="http://schemas.openxmlformats.org/drawingml/2006/main">
              <a:ext uri="{FF2B5EF4-FFF2-40B4-BE49-F238E27FC236}">
                <a16:creationId xmlns:a16="http://schemas.microsoft.com/office/drawing/2014/main" id="{9E11F18C-C722-4085-80E0-00BD163B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53825"/>
            <a:ext cx="3524400" cy="116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57200" lvl="0" indent="-295275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Char char="●"/>
            </a:pPr>
            <a:r>
              <a:rPr sz="1050">
                <a:solidFill>
                  <a:srgbClr val="374151"/>
                </a:solidFill>
              </a:rPr>
              <a:t>A DSSE signature covers the payload type and the exact in-toto Statement.</a:t>
            </a:r>
            <a:endParaRPr sz="1050">
              <a:solidFill>
                <a:srgbClr val="37415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lvl="0" indent="-295275" algn="l">
              <a:spcBef>
                <a:spcPts val="90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Char char="●"/>
            </a:pPr>
            <a:r>
              <a:rPr sz="1050">
                <a:solidFill>
                  <a:srgbClr val="374151"/>
                </a:solidFill>
                <a:latin typeface="Arial"/>
                <a:ea typeface="Arial"/>
                <a:cs typeface="Arial"/>
              </a:rPr>
              <a:t>The Statement names the artifact and its canonical SHA-256 digest.</a:t>
            </a:r>
            <a:endParaRPr sz="1050">
              <a:solidFill>
                <a:srgbClr val="37415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lvl="0" indent="-295275" algn="l">
              <a:spcBef>
                <a:spcPts val="90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Char char="●"/>
            </a:pPr>
            <a:r>
              <a:rPr sz="1050">
                <a:solidFill>
                  <a:srgbClr val="374151"/>
                </a:solidFill>
                <a:latin typeface="Arial"/>
                <a:ea typeface="Arial"/>
                <a:cs typeface="Arial"/>
              </a:rPr>
              <a:t>The original JSON remains unchanged.</a:t>
            </a:r>
            <a:endParaRPr sz="1050">
              <a:solidFill>
                <a:srgbClr val="37415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Google Shape;177;p5">
            <a:extLst xmlns:a="http://schemas.openxmlformats.org/drawingml/2006/main">
              <a:ext uri="{FF2B5EF4-FFF2-40B4-BE49-F238E27FC236}">
                <a16:creationId xmlns:a16="http://schemas.microsoft.com/office/drawing/2014/main" id="{BA235042-5977-45F8-9C10-27CA6CB6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64" y="697230"/>
            <a:ext cx="80322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800"/>
              <a:buFont typeface="Arial"/>
              <a:buNone/>
            </a:pPr>
            <a:r>
              <a:rPr sz="800">
                <a:solidFill>
                  <a:srgbClr val="6A6E73"/>
                </a:solidFill>
              </a:rPr>
              <a:t>The private-key holder signs a typed claim about the canonical JSON digest.</a:t>
            </a:r>
            <a:endParaRPr sz="1100"/>
          </a:p>
        </p:txBody>
      </p:sp>
      <p:sp>
        <p:nvSpPr>
          <p:cNvPr id="178" name="Google Shape;178;p5">
            <a:extLst xmlns:a="http://schemas.openxmlformats.org/drawingml/2006/main">
              <a:ext uri="{FF2B5EF4-FFF2-40B4-BE49-F238E27FC236}">
                <a16:creationId xmlns:a16="http://schemas.microsoft.com/office/drawing/2014/main" id="{EBF4ED0A-E6B4-45D2-A6E6-9BC1CE93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00" y="1195769"/>
            <a:ext cx="1476000" cy="493800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4B5563"/>
          </a:solidFill>
          <a:ln xmlns:a="http://schemas.openxmlformats.org/drawingml/2006/main" w="9525" cmpd="sng">
            <a:solidFill>
              <a:srgbClr val="4B556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>
            <a:extLst xmlns:a="http://schemas.openxmlformats.org/drawingml/2006/main">
              <a:ext uri="{FF2B5EF4-FFF2-40B4-BE49-F238E27FC236}">
                <a16:creationId xmlns:a16="http://schemas.microsoft.com/office/drawing/2014/main" id="{584CEDC4-D6CF-457E-B4E5-9B153412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51" y="1346645"/>
            <a:ext cx="1338600" cy="20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JSON file</a:t>
            </a:r>
            <a:endParaRPr sz="1000" b="1">
              <a:solidFill>
                <a:srgbClr val="FFFFFF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80" name="Google Shape;180;p5">
            <a:extLst xmlns:a="http://schemas.openxmlformats.org/drawingml/2006/main">
              <a:ext uri="{FF2B5EF4-FFF2-40B4-BE49-F238E27FC236}">
                <a16:creationId xmlns:a16="http://schemas.microsoft.com/office/drawing/2014/main" id="{5F1BDE35-2AD3-40DF-9EF4-F1652239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029" y="1360360"/>
            <a:ext cx="1098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1" name="Google Shape;181;p5">
            <a:extLst xmlns:a="http://schemas.openxmlformats.org/drawingml/2006/main">
              <a:ext uri="{FF2B5EF4-FFF2-40B4-BE49-F238E27FC236}">
                <a16:creationId xmlns:a16="http://schemas.microsoft.com/office/drawing/2014/main" id="{6DC048B7-2FD0-4AE4-8713-168DF3D0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792" y="1195769"/>
            <a:ext cx="1476000" cy="493800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9525" cmpd="sng">
            <a:solidFill>
              <a:srgbClr val="1D4ED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>
            <a:extLst xmlns:a="http://schemas.openxmlformats.org/drawingml/2006/main">
              <a:ext uri="{FF2B5EF4-FFF2-40B4-BE49-F238E27FC236}">
                <a16:creationId xmlns:a16="http://schemas.microsoft.com/office/drawing/2014/main" id="{14DF2E31-2FA4-4A79-9BF2-D34879B7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439" y="1346645"/>
            <a:ext cx="1338600" cy="20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RFC 8785 canonical</a:t>
            </a:r>
            <a:endParaRPr sz="900" b="1">
              <a:solidFill>
                <a:srgbClr val="FFFFFF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83" name="Google Shape;183;p5">
            <a:extLst xmlns:a="http://schemas.openxmlformats.org/drawingml/2006/main">
              <a:ext uri="{FF2B5EF4-FFF2-40B4-BE49-F238E27FC236}">
                <a16:creationId xmlns:a16="http://schemas.microsoft.com/office/drawing/2014/main" id="{FE85F96C-E5B0-4887-83C9-B274EC7B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721" y="1360360"/>
            <a:ext cx="1098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Google Shape;184;p5">
            <a:extLst xmlns:a="http://schemas.openxmlformats.org/drawingml/2006/main">
              <a:ext uri="{FF2B5EF4-FFF2-40B4-BE49-F238E27FC236}">
                <a16:creationId xmlns:a16="http://schemas.microsoft.com/office/drawing/2014/main" id="{85089332-85D8-4829-8345-3AD56F8D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490" y="1195769"/>
            <a:ext cx="1476000" cy="493800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5B21B6"/>
          </a:solidFill>
          <a:ln xmlns:a="http://schemas.openxmlformats.org/drawingml/2006/main" w="9525" cmpd="sng">
            <a:solidFill>
              <a:srgbClr val="5B21B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>
            <a:extLst xmlns:a="http://schemas.openxmlformats.org/drawingml/2006/main">
              <a:ext uri="{FF2B5EF4-FFF2-40B4-BE49-F238E27FC236}">
                <a16:creationId xmlns:a16="http://schemas.microsoft.com/office/drawing/2014/main" id="{020CCBE5-F199-4643-8DA6-846F0412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137" y="1346645"/>
            <a:ext cx="1338600" cy="20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SHA-256 digest</a:t>
            </a:r>
            <a:endParaRPr sz="1000" b="1">
              <a:solidFill>
                <a:srgbClr val="FFFFFF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86" name="Google Shape;186;p5">
            <a:extLst xmlns:a="http://schemas.openxmlformats.org/drawingml/2006/main">
              <a:ext uri="{FF2B5EF4-FFF2-40B4-BE49-F238E27FC236}">
                <a16:creationId xmlns:a16="http://schemas.microsoft.com/office/drawing/2014/main" id="{15026A48-C58D-4DFA-BA84-E9552739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413" y="1360360"/>
            <a:ext cx="1098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Google Shape;187;p5">
            <a:extLst xmlns:a="http://schemas.openxmlformats.org/drawingml/2006/main">
              <a:ext uri="{FF2B5EF4-FFF2-40B4-BE49-F238E27FC236}">
                <a16:creationId xmlns:a16="http://schemas.microsoft.com/office/drawing/2014/main" id="{33F54E10-F724-4D47-8D52-43F4FA5E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178" y="1195769"/>
            <a:ext cx="1476000" cy="493800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 cmpd="sng">
            <a:solidFill>
              <a:srgbClr val="D9770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>
            <a:extLst xmlns:a="http://schemas.openxmlformats.org/drawingml/2006/main">
              <a:ext uri="{FF2B5EF4-FFF2-40B4-BE49-F238E27FC236}">
                <a16:creationId xmlns:a16="http://schemas.microsoft.com/office/drawing/2014/main" id="{A92DF15C-BC10-49CA-8541-F2A1008E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825" y="1346645"/>
            <a:ext cx="1338600" cy="20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in-toto Statement</a:t>
            </a:r>
            <a:endParaRPr sz="1000" b="1">
              <a:solidFill>
                <a:srgbClr val="FFFFFF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89" name="Google Shape;189;p5">
            <a:extLst xmlns:a="http://schemas.openxmlformats.org/drawingml/2006/main">
              <a:ext uri="{FF2B5EF4-FFF2-40B4-BE49-F238E27FC236}">
                <a16:creationId xmlns:a16="http://schemas.microsoft.com/office/drawing/2014/main" id="{05278DA8-1428-4C7D-A30E-37E988DA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105" y="1360360"/>
            <a:ext cx="1098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Google Shape;190;p5">
            <a:extLst xmlns:a="http://schemas.openxmlformats.org/drawingml/2006/main">
              <a:ext uri="{FF2B5EF4-FFF2-40B4-BE49-F238E27FC236}">
                <a16:creationId xmlns:a16="http://schemas.microsoft.com/office/drawing/2014/main" id="{E3166CC7-B268-4BA3-864B-C56109B6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866" y="1195769"/>
            <a:ext cx="1476000" cy="493800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 cmpd="sng">
            <a:solidFill>
              <a:srgbClr val="DC262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>
            <a:extLst xmlns:a="http://schemas.openxmlformats.org/drawingml/2006/main">
              <a:ext uri="{FF2B5EF4-FFF2-40B4-BE49-F238E27FC236}">
                <a16:creationId xmlns:a16="http://schemas.microsoft.com/office/drawing/2014/main" id="{B4879DBD-6190-438A-9363-C4978B34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522" y="1346645"/>
            <a:ext cx="1338600" cy="20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Signed DSSE envelope</a:t>
            </a:r>
            <a:endParaRPr sz="1000" b="1">
              <a:solidFill>
                <a:srgbClr val="FFFFFF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92" name="Google Shape;192;p5">
            <a:extLst xmlns:a="http://schemas.openxmlformats.org/drawingml/2006/main">
              <a:ext uri="{FF2B5EF4-FFF2-40B4-BE49-F238E27FC236}">
                <a16:creationId xmlns:a16="http://schemas.microsoft.com/office/drawing/2014/main" id="{71441AC3-1A8B-49F2-BACA-3B72487A5F3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93103" y="4786883"/>
            <a:ext cx="1206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  <p:sp>
        <p:nvSpPr>
          <p:cNvPr id="194" name="Google Shape;194;p5">
            <a:extLst xmlns:a="http://schemas.openxmlformats.org/drawingml/2006/main">
              <a:ext uri="{FF2B5EF4-FFF2-40B4-BE49-F238E27FC236}">
                <a16:creationId xmlns:a16="http://schemas.microsoft.com/office/drawing/2014/main" id="{6C55DBAE-84F7-457A-A7C0-F8C96646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1109" y="2239898"/>
            <a:ext cx="3804075" cy="1955497"/>
          </a:xfrm>
          <a:prstGeom xmlns:a="http://schemas.openxmlformats.org/drawingml/2006/main" prst="roundRect">
            <a:avLst>
              <a:gd name="adj" fmla="val 3018"/>
            </a:avLst>
          </a:prstGeom>
          <a:solidFill xmlns:a="http://schemas.openxmlformats.org/drawingml/2006/main">
            <a:srgbClr val="1E1E2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>
            <a:extLst xmlns:a="http://schemas.openxmlformats.org/drawingml/2006/main">
              <a:ext uri="{FF2B5EF4-FFF2-40B4-BE49-F238E27FC236}">
                <a16:creationId xmlns:a16="http://schemas.microsoft.com/office/drawing/2014/main" id="{D9D9B9DA-9B00-48A4-AEBE-F235DF0B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4075" y="2342048"/>
            <a:ext cx="90715" cy="90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5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>
            <a:extLst xmlns:a="http://schemas.openxmlformats.org/drawingml/2006/main">
              <a:ext uri="{FF2B5EF4-FFF2-40B4-BE49-F238E27FC236}">
                <a16:creationId xmlns:a16="http://schemas.microsoft.com/office/drawing/2014/main" id="{040EE2DE-CFB0-4E96-BD50-0C37ED2C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8975" y="2342048"/>
            <a:ext cx="90715" cy="90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>
            <a:extLst xmlns:a="http://schemas.openxmlformats.org/drawingml/2006/main">
              <a:ext uri="{FF2B5EF4-FFF2-40B4-BE49-F238E27FC236}">
                <a16:creationId xmlns:a16="http://schemas.microsoft.com/office/drawing/2014/main" id="{A441A894-EDD9-44B2-A018-2A889836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3900" y="2342047"/>
            <a:ext cx="90715" cy="90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9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>
            <a:extLst xmlns:a="http://schemas.openxmlformats.org/drawingml/2006/main">
              <a:ext uri="{FF2B5EF4-FFF2-40B4-BE49-F238E27FC236}">
                <a16:creationId xmlns:a16="http://schemas.microsoft.com/office/drawing/2014/main" id="{5A29EF6C-43C6-4F84-B5FF-6D7284B9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16712" y="2313688"/>
            <a:ext cx="2717196" cy="1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7C7C93"/>
                </a:solidFill>
                <a:latin typeface="Courier New"/>
                <a:ea typeface="Courier New"/>
                <a:cs typeface="Courier New"/>
              </a:rPr>
              <a:t>trestle sign</a:t>
            </a:r>
            <a:endParaRPr sz="900">
              <a:solidFill>
                <a:srgbClr val="7C7C93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99" name="Google Shape;199;p5">
            <a:extLst xmlns:a="http://schemas.openxmlformats.org/drawingml/2006/main">
              <a:ext uri="{FF2B5EF4-FFF2-40B4-BE49-F238E27FC236}">
                <a16:creationId xmlns:a16="http://schemas.microsoft.com/office/drawing/2014/main" id="{E49618C5-5775-4821-8F89-F4AA8285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02256" y="2571954"/>
            <a:ext cx="3441782" cy="1475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66D9EF"/>
                </a:solidFill>
                <a:latin typeface="Courier New"/>
                <a:ea typeface="Courier New"/>
                <a:cs typeface="Courier New"/>
              </a:rPr>
              <a:t>trestle</a:t>
            </a:r>
            <a:r>
              <a:rPr sz="1050" b="1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 b="1">
                <a:solidFill>
                  <a:srgbClr val="66D9EF"/>
                </a:solidFill>
                <a:latin typeface="Courier New"/>
                <a:ea typeface="Courier New"/>
                <a:cs typeface="Courier New"/>
              </a:rPr>
              <a:t>sign</a:t>
            </a:r>
            <a:r>
              <a:rPr sz="1050" b="1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\</a:t>
            </a:r>
            <a:endParaRPr sz="1050" b="1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-f</a:t>
            </a:r>
            <a:r>
              <a:rPr sz="105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catalog.json \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--private-key</a:t>
            </a:r>
            <a:r>
              <a:rPr sz="105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private.pem \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-o</a:t>
            </a:r>
            <a:r>
              <a:rPr sz="105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catalog.json.dsse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50" b="1">
              <a:solidFill>
                <a:srgbClr val="AE81FF"/>
              </a:solidFill>
              <a:latin typeface="Courier New"/>
              <a:ea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21948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" name="Google Shape;205;p6">
            <a:extLst xmlns:a="http://schemas.openxmlformats.org/drawingml/2006/main">
              <a:ext uri="{FF2B5EF4-FFF2-40B4-BE49-F238E27FC236}">
                <a16:creationId xmlns:a16="http://schemas.microsoft.com/office/drawing/2014/main" id="{BB1209A3-0471-4007-BD00-329B205A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35" y="316610"/>
            <a:ext cx="8169600" cy="28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900"/>
              <a:buFont typeface="Play"/>
              <a:buNone/>
            </a:pPr>
            <a:r>
              <a:rPr sz="1900" b="1" i="0" u="none" cap="none">
                <a:solidFill>
                  <a:srgbClr val="151515"/>
                </a:solidFill>
                <a:latin typeface="Play"/>
                <a:ea typeface="Play"/>
                <a:cs typeface="Play"/>
              </a:rPr>
              <a:t>The detached proof travels beside the original JSON</a:t>
            </a:r>
            <a:endParaRPr sz="1100"/>
          </a:p>
        </p:txBody>
      </p:sp>
      <p:sp>
        <p:nvSpPr>
          <p:cNvPr id="206" name="Google Shape;206;p6">
            <a:extLst xmlns:a="http://schemas.openxmlformats.org/drawingml/2006/main">
              <a:ext uri="{FF2B5EF4-FFF2-40B4-BE49-F238E27FC236}">
                <a16:creationId xmlns:a16="http://schemas.microsoft.com/office/drawing/2014/main" id="{4108569B-1FBD-482A-B021-8C50BAF3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5" y="701725"/>
            <a:ext cx="72249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rPr>
              <a:t>Teams can store, exchange, and verify evidence without rewriting OSCAL.</a:t>
            </a:r>
            <a:endParaRPr sz="1100"/>
          </a:p>
        </p:txBody>
      </p:sp>
      <p:sp>
        <p:nvSpPr>
          <p:cNvPr id="208" name="Google Shape;208;p6">
            <a:extLst xmlns:a="http://schemas.openxmlformats.org/drawingml/2006/main">
              <a:ext uri="{FF2B5EF4-FFF2-40B4-BE49-F238E27FC236}">
                <a16:creationId xmlns:a16="http://schemas.microsoft.com/office/drawing/2014/main" id="{38D94D07-98C8-4A53-9D96-7B0BEC3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993" y="1051724"/>
            <a:ext cx="4269924" cy="3200400"/>
          </a:xfrm>
          <a:prstGeom xmlns:a="http://schemas.openxmlformats.org/drawingml/2006/main" prst="roundRect">
            <a:avLst>
              <a:gd name="adj" fmla="val 2380"/>
            </a:avLst>
          </a:prstGeom>
          <a:solidFill xmlns:a="http://schemas.openxmlformats.org/drawingml/2006/main">
            <a:srgbClr val="1E1E2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09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e842a1a9424989">
            <a:alphaModFix/>
          </a:blip>
          <a:srcRect xmlns:a="http://schemas.openxmlformats.org/drawingml/2006/main" l="0" t="34585" r="0" b="0"/>
          <a:stretch xmlns:a="http://schemas.openxmlformats.org/drawingml/2006/main"/>
        </p:blipFill>
        <p:spPr>
          <a:xfrm xmlns:a="http://schemas.openxmlformats.org/drawingml/2006/main" rot="0" flipH="0" flipV="0">
            <a:off x="459993" y="1047750"/>
            <a:ext cx="4185693" cy="289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0" name="Google Shape;210;p6">
            <a:extLst xmlns:a="http://schemas.openxmlformats.org/drawingml/2006/main">
              <a:ext uri="{FF2B5EF4-FFF2-40B4-BE49-F238E27FC236}">
                <a16:creationId xmlns:a16="http://schemas.microsoft.com/office/drawing/2014/main" id="{F93CC777-9418-4DC2-8465-0DCA04D0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543" y="1146974"/>
            <a:ext cx="112543" cy="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5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>
            <a:extLst xmlns:a="http://schemas.openxmlformats.org/drawingml/2006/main">
              <a:ext uri="{FF2B5EF4-FFF2-40B4-BE49-F238E27FC236}">
                <a16:creationId xmlns:a16="http://schemas.microsoft.com/office/drawing/2014/main" id="{D0E17CC9-041C-4965-9858-8E430B8E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8329" y="1146974"/>
            <a:ext cx="112543" cy="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>
            <a:extLst xmlns:a="http://schemas.openxmlformats.org/drawingml/2006/main">
              <a:ext uri="{FF2B5EF4-FFF2-40B4-BE49-F238E27FC236}">
                <a16:creationId xmlns:a16="http://schemas.microsoft.com/office/drawing/2014/main" id="{97683C54-30F0-4434-8095-64FEC7D8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8116" y="1146974"/>
            <a:ext cx="112543" cy="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9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>
            <a:extLst xmlns:a="http://schemas.openxmlformats.org/drawingml/2006/main">
              <a:ext uri="{FF2B5EF4-FFF2-40B4-BE49-F238E27FC236}">
                <a16:creationId xmlns:a16="http://schemas.microsoft.com/office/drawing/2014/main" id="{FC8152D5-F382-4AD2-8814-13082F23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9032" y="1099349"/>
            <a:ext cx="3146259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7C7C93"/>
                </a:solidFill>
                <a:latin typeface="Courier New"/>
                <a:ea typeface="Courier New"/>
                <a:cs typeface="Courier New"/>
              </a:rPr>
              <a:t>catalog.json.dsse</a:t>
            </a:r>
            <a:endParaRPr sz="900">
              <a:solidFill>
                <a:srgbClr val="7C7C93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214" name="Google Shape;214;p6">
            <a:extLst xmlns:a="http://schemas.openxmlformats.org/drawingml/2006/main">
              <a:ext uri="{FF2B5EF4-FFF2-40B4-BE49-F238E27FC236}">
                <a16:creationId xmlns:a16="http://schemas.microsoft.com/office/drawing/2014/main" id="{1D6E9276-D8C3-4435-928D-04B06352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9775" y="1480347"/>
            <a:ext cx="4005907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{</a:t>
            </a:r>
            <a:endParaRPr sz="105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050" b="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"payloadType"</a:t>
            </a:r>
            <a:r>
              <a:rPr sz="105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1050" b="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"application/vnd.in-toto+json"</a:t>
            </a:r>
            <a:r>
              <a:rPr sz="105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,</a:t>
            </a:r>
            <a:endParaRPr sz="105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050" b="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"payload"</a:t>
            </a:r>
            <a:r>
              <a:rPr sz="105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1050" b="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"&lt;base64-encoded in-toto Statement&gt;"</a:t>
            </a:r>
            <a:r>
              <a:rPr sz="105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,</a:t>
            </a:r>
            <a:endParaRPr sz="105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050" b="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"signatures"</a:t>
            </a:r>
            <a:r>
              <a:rPr sz="105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[</a:t>
            </a:r>
            <a:endParaRPr sz="105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5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{</a:t>
            </a:r>
            <a:endParaRPr sz="105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      </a:t>
            </a:r>
            <a:r>
              <a:rPr sz="1050" b="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"keyid"</a:t>
            </a:r>
            <a:r>
              <a:rPr sz="105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1050" b="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"&lt;signing-key identifier&gt;"</a:t>
            </a:r>
            <a:r>
              <a:rPr sz="105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,</a:t>
            </a:r>
            <a:endParaRPr sz="105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      </a:t>
            </a:r>
            <a:r>
              <a:rPr sz="1050" b="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"sig"</a:t>
            </a:r>
            <a:r>
              <a:rPr sz="105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1050" b="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"&lt;base64-encoded signature&gt;"</a:t>
            </a:r>
            <a:endParaRPr sz="105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5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}</a:t>
            </a:r>
            <a:endParaRPr sz="105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05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]</a:t>
            </a:r>
            <a:endParaRPr sz="105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}</a:t>
            </a:r>
            <a:endParaRPr sz="105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216" name="Google Shape;216;p6">
            <a:extLst xmlns:a="http://schemas.openxmlformats.org/drawingml/2006/main">
              <a:ext uri="{FF2B5EF4-FFF2-40B4-BE49-F238E27FC236}">
                <a16:creationId xmlns:a16="http://schemas.microsoft.com/office/drawing/2014/main" id="{2DA1A112-500D-467A-A84F-71A5739C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8862" y="1047743"/>
            <a:ext cx="3769804" cy="714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17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43e91d7e2548e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4878862" y="1047743"/>
            <a:ext cx="51541" cy="71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8" name="Google Shape;218;p6">
            <a:extLst xmlns:a="http://schemas.openxmlformats.org/drawingml/2006/main">
              <a:ext uri="{FF2B5EF4-FFF2-40B4-BE49-F238E27FC236}">
                <a16:creationId xmlns:a16="http://schemas.microsoft.com/office/drawing/2014/main" id="{BD14DB2C-22C8-4EB6-BB83-DA763982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0217" y="1095368"/>
            <a:ext cx="3470000" cy="6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11827"/>
                </a:solidFill>
                <a:latin typeface="Play"/>
                <a:ea typeface="Play"/>
                <a:cs typeface="Play"/>
              </a:rPr>
              <a:t>Interoperable format</a:t>
            </a:r>
            <a:endParaRPr sz="1200" b="1">
              <a:solidFill>
                <a:srgbClr val="111827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0" lvl="0" indent="0" algn="l">
              <a:spcBef>
                <a:spcPts val="150"/>
              </a:spcBef>
              <a:spcAft>
                <a:spcPts val="0"/>
              </a:spcAft>
              <a:buNone/>
            </a:pPr>
            <a:r>
              <a:rPr sz="850">
                <a:solidFill>
                  <a:srgbClr val="4B5563"/>
                </a:solidFill>
                <a:latin typeface="Arial"/>
                <a:ea typeface="Arial"/>
                <a:cs typeface="Arial"/>
              </a:rPr>
              <a:t>DSSE identifies an in-toto JSON Statement using formats established for software-supply-chain attestations.</a:t>
            </a:r>
            <a:endParaRPr sz="85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Google Shape;220;p6">
            <a:extLst xmlns:a="http://schemas.openxmlformats.org/drawingml/2006/main">
              <a:ext uri="{FF2B5EF4-FFF2-40B4-BE49-F238E27FC236}">
                <a16:creationId xmlns:a16="http://schemas.microsoft.com/office/drawing/2014/main" id="{E5472D5F-A50A-4C63-9DFF-2F32DD73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8862" y="1876418"/>
            <a:ext cx="3769804" cy="714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21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950ff394284d4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4878862" y="1876418"/>
            <a:ext cx="51541" cy="71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2" name="Google Shape;222;p6">
            <a:extLst xmlns:a="http://schemas.openxmlformats.org/drawingml/2006/main">
              <a:ext uri="{FF2B5EF4-FFF2-40B4-BE49-F238E27FC236}">
                <a16:creationId xmlns:a16="http://schemas.microsoft.com/office/drawing/2014/main" id="{4C141FED-1EA6-4327-A9DC-B725C05D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0217" y="1924043"/>
            <a:ext cx="3470000" cy="6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11827"/>
                </a:solidFill>
                <a:latin typeface="Play"/>
                <a:ea typeface="Play"/>
                <a:cs typeface="Play"/>
              </a:rPr>
              <a:t>Explicit claim</a:t>
            </a:r>
            <a:endParaRPr sz="1200" b="1">
              <a:solidFill>
                <a:srgbClr val="111827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0" lvl="0" indent="0" algn="l">
              <a:spcBef>
                <a:spcPts val="150"/>
              </a:spcBef>
              <a:spcAft>
                <a:spcPts val="0"/>
              </a:spcAft>
              <a:buNone/>
            </a:pPr>
            <a:r>
              <a:rPr sz="850">
                <a:solidFill>
                  <a:srgbClr val="4B5563"/>
                </a:solidFill>
                <a:latin typeface="Arial"/>
                <a:ea typeface="Arial"/>
                <a:cs typeface="Arial"/>
              </a:rPr>
              <a:t>The Statement carries the artifact name, canonical digest, predicate type, and digest rules.</a:t>
            </a:r>
            <a:endParaRPr sz="85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4" name="Google Shape;224;p6">
            <a:extLst xmlns:a="http://schemas.openxmlformats.org/drawingml/2006/main">
              <a:ext uri="{FF2B5EF4-FFF2-40B4-BE49-F238E27FC236}">
                <a16:creationId xmlns:a16="http://schemas.microsoft.com/office/drawing/2014/main" id="{2C63F689-BA25-4A03-BBAA-F0A00C32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8862" y="2705093"/>
            <a:ext cx="3769804" cy="714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25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0b76c3a0d94fb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4878862" y="2705093"/>
            <a:ext cx="51541" cy="71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6" name="Google Shape;226;p6">
            <a:extLst xmlns:a="http://schemas.openxmlformats.org/drawingml/2006/main">
              <a:ext uri="{FF2B5EF4-FFF2-40B4-BE49-F238E27FC236}">
                <a16:creationId xmlns:a16="http://schemas.microsoft.com/office/drawing/2014/main" id="{1B46E29D-1960-4949-BD93-534BD915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0217" y="2752718"/>
            <a:ext cx="3470000" cy="6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11827"/>
                </a:solidFill>
                <a:latin typeface="Play"/>
                <a:ea typeface="Play"/>
                <a:cs typeface="Play"/>
              </a:rPr>
              <a:t>Independent verification</a:t>
            </a:r>
            <a:endParaRPr sz="1200" b="1">
              <a:solidFill>
                <a:srgbClr val="111827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0" lvl="0" indent="0" algn="l">
              <a:spcBef>
                <a:spcPts val="150"/>
              </a:spcBef>
              <a:spcAft>
                <a:spcPts val="0"/>
              </a:spcAft>
              <a:buNone/>
            </a:pPr>
            <a:r>
              <a:rPr sz="850">
                <a:solidFill>
                  <a:srgbClr val="4B5563"/>
                </a:solidFill>
                <a:latin typeface="Arial"/>
                <a:ea typeface="Arial"/>
                <a:cs typeface="Arial"/>
              </a:rPr>
              <a:t>Consumers verify the proof with the expected public key</a:t>
            </a:r>
            <a:r>
              <a:rPr sz="850">
                <a:solidFill>
                  <a:srgbClr val="4B5563"/>
                </a:solidFill>
              </a:rPr>
              <a:t>.</a:t>
            </a:r>
            <a:r>
              <a:rPr sz="850">
                <a:solidFill>
                  <a:srgbClr val="4B5563"/>
                </a:solidFill>
                <a:latin typeface="Arial"/>
                <a:ea typeface="Arial"/>
                <a:cs typeface="Arial"/>
              </a:rPr>
              <a:t> </a:t>
            </a:r>
            <a:r>
              <a:rPr sz="850">
                <a:solidFill>
                  <a:srgbClr val="4B5563"/>
                </a:solidFill>
              </a:rPr>
              <a:t>T</a:t>
            </a:r>
            <a:r>
              <a:rPr sz="850">
                <a:solidFill>
                  <a:srgbClr val="4B5563"/>
                </a:solidFill>
                <a:latin typeface="Arial"/>
                <a:ea typeface="Arial"/>
                <a:cs typeface="Arial"/>
              </a:rPr>
              <a:t>he private key never leaves the signer.</a:t>
            </a:r>
            <a:endParaRPr sz="85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Google Shape;228;p6">
            <a:extLst xmlns:a="http://schemas.openxmlformats.org/drawingml/2006/main">
              <a:ext uri="{FF2B5EF4-FFF2-40B4-BE49-F238E27FC236}">
                <a16:creationId xmlns:a16="http://schemas.microsoft.com/office/drawing/2014/main" id="{072AB605-416A-4EA6-A9B3-989D1C6E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8862" y="3533768"/>
            <a:ext cx="3769804" cy="714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29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9316495df44e8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4878862" y="3533768"/>
            <a:ext cx="51541" cy="71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0" name="Google Shape;230;p6">
            <a:extLst xmlns:a="http://schemas.openxmlformats.org/drawingml/2006/main">
              <a:ext uri="{FF2B5EF4-FFF2-40B4-BE49-F238E27FC236}">
                <a16:creationId xmlns:a16="http://schemas.microsoft.com/office/drawing/2014/main" id="{732D1B5C-575A-4021-AA05-0C9670DA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0217" y="3581393"/>
            <a:ext cx="3470000" cy="6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11827"/>
                </a:solidFill>
                <a:latin typeface="Play"/>
                <a:ea typeface="Play"/>
                <a:cs typeface="Play"/>
              </a:rPr>
              <a:t>Key metadata</a:t>
            </a:r>
            <a:endParaRPr sz="1200" b="1">
              <a:solidFill>
                <a:srgbClr val="111827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0" lvl="0" indent="0" algn="l">
              <a:spcBef>
                <a:spcPts val="150"/>
              </a:spcBef>
              <a:spcAft>
                <a:spcPts val="0"/>
              </a:spcAft>
              <a:buNone/>
            </a:pPr>
            <a:r>
              <a:rPr sz="850">
                <a:solidFill>
                  <a:srgbClr val="4B5563"/>
                </a:solidFill>
                <a:latin typeface="Arial"/>
                <a:ea typeface="Arial"/>
                <a:cs typeface="Arial"/>
              </a:rPr>
              <a:t>keyid is a hint inside the envelope. Trust comes from the public key supplied by the verifier.</a:t>
            </a:r>
            <a:endParaRPr sz="85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Google Shape;231;p6">
            <a:extLst xmlns:a="http://schemas.openxmlformats.org/drawingml/2006/main">
              <a:ext uri="{FF2B5EF4-FFF2-40B4-BE49-F238E27FC236}">
                <a16:creationId xmlns:a16="http://schemas.microsoft.com/office/drawing/2014/main" id="{B09ED2AC-0A73-4534-AC0F-9E72CD8695B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93103" y="4786883"/>
            <a:ext cx="1206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80643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7" name="Google Shape;237;p7">
            <a:extLst xmlns:a="http://schemas.openxmlformats.org/drawingml/2006/main">
              <a:ext uri="{FF2B5EF4-FFF2-40B4-BE49-F238E27FC236}">
                <a16:creationId xmlns:a16="http://schemas.microsoft.com/office/drawing/2014/main" id="{8D2924EA-E891-4FA7-8E01-DCD4C930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35" y="316610"/>
            <a:ext cx="8169600" cy="28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900"/>
              <a:buFont typeface="Play"/>
              <a:buNone/>
            </a:pPr>
            <a:r>
              <a:rPr sz="1900" b="1" i="0" u="none" cap="none">
                <a:solidFill>
                  <a:srgbClr val="151515"/>
                </a:solidFill>
                <a:latin typeface="Play"/>
                <a:ea typeface="Play"/>
                <a:cs typeface="Play"/>
              </a:rPr>
              <a:t>Signed claims are explicit and machine-checkable</a:t>
            </a:r>
            <a:endParaRPr sz="1100"/>
          </a:p>
        </p:txBody>
      </p:sp>
      <p:sp>
        <p:nvSpPr>
          <p:cNvPr id="238" name="Google Shape;238;p7">
            <a:extLst xmlns:a="http://schemas.openxmlformats.org/drawingml/2006/main">
              <a:ext uri="{FF2B5EF4-FFF2-40B4-BE49-F238E27FC236}">
                <a16:creationId xmlns:a16="http://schemas.microsoft.com/office/drawing/2014/main" id="{D5B4785F-3857-45F7-A17F-37CDF006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64" y="697230"/>
            <a:ext cx="80322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rPr>
              <a:t>Artifact identity stays separate from the rules used to produce its digest.</a:t>
            </a:r>
            <a:endParaRPr sz="1100"/>
          </a:p>
        </p:txBody>
      </p:sp>
      <p:sp>
        <p:nvSpPr>
          <p:cNvPr id="240" name="Google Shape;240;p7">
            <a:extLst xmlns:a="http://schemas.openxmlformats.org/drawingml/2006/main">
              <a:ext uri="{FF2B5EF4-FFF2-40B4-BE49-F238E27FC236}">
                <a16:creationId xmlns:a16="http://schemas.microsoft.com/office/drawing/2014/main" id="{7F549A5C-EA16-4633-99B8-4D7B0142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047750"/>
            <a:ext cx="3810000" cy="3333900"/>
          </a:xfrm>
          <a:prstGeom xmlns:a="http://schemas.openxmlformats.org/drawingml/2006/main" prst="roundRect">
            <a:avLst>
              <a:gd name="adj" fmla="val 2285"/>
            </a:avLst>
          </a:prstGeom>
          <a:solidFill xmlns:a="http://schemas.openxmlformats.org/drawingml/2006/main">
            <a:srgbClr val="1E1E2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>
            <a:extLst xmlns:a="http://schemas.openxmlformats.org/drawingml/2006/main">
              <a:ext uri="{FF2B5EF4-FFF2-40B4-BE49-F238E27FC236}">
                <a16:creationId xmlns:a16="http://schemas.microsoft.com/office/drawing/2014/main" id="{95A120D0-1584-48AC-BEF8-086C3492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143000"/>
            <a:ext cx="95400" cy="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5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>
            <a:extLst xmlns:a="http://schemas.openxmlformats.org/drawingml/2006/main">
              <a:ext uri="{FF2B5EF4-FFF2-40B4-BE49-F238E27FC236}">
                <a16:creationId xmlns:a16="http://schemas.microsoft.com/office/drawing/2014/main" id="{ADCA132B-D226-49EF-BE88-F09F98A9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475" y="1143000"/>
            <a:ext cx="95400" cy="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>
            <a:extLst xmlns:a="http://schemas.openxmlformats.org/drawingml/2006/main">
              <a:ext uri="{FF2B5EF4-FFF2-40B4-BE49-F238E27FC236}">
                <a16:creationId xmlns:a16="http://schemas.microsoft.com/office/drawing/2014/main" id="{5D4FE480-1F73-494C-B8D1-E2A90312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4875" y="1143000"/>
            <a:ext cx="95400" cy="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9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>
            <a:extLst xmlns:a="http://schemas.openxmlformats.org/drawingml/2006/main">
              <a:ext uri="{FF2B5EF4-FFF2-40B4-BE49-F238E27FC236}">
                <a16:creationId xmlns:a16="http://schemas.microsoft.com/office/drawing/2014/main" id="{86E40C99-6BC9-4A4E-893C-116C15F3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095375"/>
            <a:ext cx="288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7C7C93"/>
                </a:solidFill>
                <a:latin typeface="Courier New"/>
                <a:ea typeface="Courier New"/>
                <a:cs typeface="Courier New"/>
              </a:rPr>
              <a:t>Decoded DSSE payload: in-toto Statement</a:t>
            </a:r>
            <a:endParaRPr sz="900">
              <a:solidFill>
                <a:srgbClr val="7C7C93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245" name="Google Shape;245;p7">
            <a:extLst xmlns:a="http://schemas.openxmlformats.org/drawingml/2006/main">
              <a:ext uri="{FF2B5EF4-FFF2-40B4-BE49-F238E27FC236}">
                <a16:creationId xmlns:a16="http://schemas.microsoft.com/office/drawing/2014/main" id="{972F8720-0174-43CA-8345-81F13847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428750"/>
            <a:ext cx="3505200" cy="27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{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"_type"</a:t>
            </a: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100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"https://in-toto.io/Statement/v1"</a:t>
            </a: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,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"subject"</a:t>
            </a: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[{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"name"</a:t>
            </a: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100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"catalog.json"</a:t>
            </a: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,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"digest"</a:t>
            </a: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{ </a:t>
            </a: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"sha256"</a:t>
            </a: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100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"..."</a:t>
            </a: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 }],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"predicateType"</a:t>
            </a: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100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".../oscal-signing/v1"</a:t>
            </a: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,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"predicate"</a:t>
            </a: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{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"canonicalization"</a:t>
            </a: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100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"RFC8785"</a:t>
            </a: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,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"digestAlgorithm"</a:t>
            </a: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100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"sha256"</a:t>
            </a: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,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"digestSource"</a:t>
            </a: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100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"canonical-json"</a:t>
            </a: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,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"tool"</a:t>
            </a: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100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"compliance-trestle"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}</a:t>
            </a:r>
            <a:endParaRPr sz="100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247" name="Google Shape;247;p7">
            <a:extLst xmlns:a="http://schemas.openxmlformats.org/drawingml/2006/main">
              <a:ext uri="{FF2B5EF4-FFF2-40B4-BE49-F238E27FC236}">
                <a16:creationId xmlns:a16="http://schemas.microsoft.com/office/drawing/2014/main" id="{5CD4658D-C3EB-4FF6-9ED8-2335CC69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5800" y="1047750"/>
            <a:ext cx="41910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>
            <a:extLst xmlns:a="http://schemas.openxmlformats.org/drawingml/2006/main">
              <a:ext uri="{FF2B5EF4-FFF2-40B4-BE49-F238E27FC236}">
                <a16:creationId xmlns:a16="http://schemas.microsoft.com/office/drawing/2014/main" id="{69F9F995-2528-44D7-89B1-07401D73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5800" y="1047750"/>
            <a:ext cx="573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>
            <a:extLst xmlns:a="http://schemas.openxmlformats.org/drawingml/2006/main">
              <a:ext uri="{FF2B5EF4-FFF2-40B4-BE49-F238E27FC236}">
                <a16:creationId xmlns:a16="http://schemas.microsoft.com/office/drawing/2014/main" id="{54CCBB74-7E85-42A4-9BBB-C592AF3D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6300" y="11430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11827"/>
                </a:solidFill>
                <a:latin typeface="Play"/>
                <a:ea typeface="Play"/>
                <a:cs typeface="Play"/>
              </a:rPr>
              <a:t>Subject</a:t>
            </a:r>
            <a:endParaRPr sz="1200" b="1">
              <a:solidFill>
                <a:srgbClr val="111827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0" lv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sz="900">
                <a:solidFill>
                  <a:srgbClr val="4B5563"/>
                </a:solidFill>
                <a:latin typeface="Arial"/>
                <a:ea typeface="Arial"/>
                <a:cs typeface="Arial"/>
              </a:rPr>
              <a:t>Names the artifact and records its canonical SHA-256 digest. It stays generic because sign supports any JSON file.</a:t>
            </a:r>
            <a:endParaRPr sz="90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Google Shape;251;p7">
            <a:extLst xmlns:a="http://schemas.openxmlformats.org/drawingml/2006/main">
              <a:ext uri="{FF2B5EF4-FFF2-40B4-BE49-F238E27FC236}">
                <a16:creationId xmlns:a16="http://schemas.microsoft.com/office/drawing/2014/main" id="{D837869E-59CA-40FA-9CCF-6FB05EDC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5800" y="2143125"/>
            <a:ext cx="41910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>
            <a:extLst xmlns:a="http://schemas.openxmlformats.org/drawingml/2006/main">
              <a:ext uri="{FF2B5EF4-FFF2-40B4-BE49-F238E27FC236}">
                <a16:creationId xmlns:a16="http://schemas.microsoft.com/office/drawing/2014/main" id="{112892AC-32FB-416C-9DD4-1160F7C6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5800" y="2143125"/>
            <a:ext cx="573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>
            <a:extLst xmlns:a="http://schemas.openxmlformats.org/drawingml/2006/main">
              <a:ext uri="{FF2B5EF4-FFF2-40B4-BE49-F238E27FC236}">
                <a16:creationId xmlns:a16="http://schemas.microsoft.com/office/drawing/2014/main" id="{7F41C68B-4E76-409F-880A-6AFEB06C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6300" y="223837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11827"/>
                </a:solidFill>
                <a:latin typeface="Play"/>
                <a:ea typeface="Play"/>
                <a:cs typeface="Play"/>
              </a:rPr>
              <a:t>Predicate</a:t>
            </a:r>
            <a:endParaRPr sz="1200" b="1">
              <a:solidFill>
                <a:srgbClr val="111827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0" lv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sz="900">
                <a:solidFill>
                  <a:srgbClr val="4B5563"/>
                </a:solidFill>
                <a:latin typeface="Arial"/>
                <a:ea typeface="Arial"/>
                <a:cs typeface="Arial"/>
              </a:rPr>
              <a:t>Records RFC 8785, SHA-256, canonical JSON as the digest source, and compliance-trestle as producer.</a:t>
            </a:r>
            <a:endParaRPr sz="90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Google Shape;255;p7">
            <a:extLst xmlns:a="http://schemas.openxmlformats.org/drawingml/2006/main">
              <a:ext uri="{FF2B5EF4-FFF2-40B4-BE49-F238E27FC236}">
                <a16:creationId xmlns:a16="http://schemas.microsoft.com/office/drawing/2014/main" id="{10F0ADFE-EB92-4DB5-A0BA-AA7060B7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5800" y="3238500"/>
            <a:ext cx="41910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>
            <a:extLst xmlns:a="http://schemas.openxmlformats.org/drawingml/2006/main">
              <a:ext uri="{FF2B5EF4-FFF2-40B4-BE49-F238E27FC236}">
                <a16:creationId xmlns:a16="http://schemas.microsoft.com/office/drawing/2014/main" id="{DC4700B4-9A96-48EF-81D6-E72A03A8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5800" y="3238500"/>
            <a:ext cx="573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86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>
            <a:extLst xmlns:a="http://schemas.openxmlformats.org/drawingml/2006/main">
              <a:ext uri="{FF2B5EF4-FFF2-40B4-BE49-F238E27FC236}">
                <a16:creationId xmlns:a16="http://schemas.microsoft.com/office/drawing/2014/main" id="{D332DE92-FCFD-4F97-9192-1B21C35A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6300" y="33337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11827"/>
                </a:solidFill>
                <a:latin typeface="Play"/>
                <a:ea typeface="Play"/>
                <a:cs typeface="Play"/>
              </a:rPr>
              <a:t>Verification value</a:t>
            </a:r>
            <a:endParaRPr sz="1200" b="1">
              <a:solidFill>
                <a:srgbClr val="111827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0" lv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sz="900">
                <a:solidFill>
                  <a:srgbClr val="4B5563"/>
                </a:solidFill>
                <a:latin typeface="Arial"/>
                <a:ea typeface="Arial"/>
                <a:cs typeface="Arial"/>
              </a:rPr>
              <a:t>Trestle rejects unexpected Statement types, predicate types, algorithms, subject counts, names, or digests.</a:t>
            </a:r>
            <a:endParaRPr sz="90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Google Shape;258;p7">
            <a:extLst xmlns:a="http://schemas.openxmlformats.org/drawingml/2006/main">
              <a:ext uri="{FF2B5EF4-FFF2-40B4-BE49-F238E27FC236}">
                <a16:creationId xmlns:a16="http://schemas.microsoft.com/office/drawing/2014/main" id="{8C0893A0-187F-4325-B93B-6C1EADF727E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93103" y="4786883"/>
            <a:ext cx="1206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51368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4" name="Google Shape;264;p8">
            <a:extLst xmlns:a="http://schemas.openxmlformats.org/drawingml/2006/main">
              <a:ext uri="{FF2B5EF4-FFF2-40B4-BE49-F238E27FC236}">
                <a16:creationId xmlns:a16="http://schemas.microsoft.com/office/drawing/2014/main" id="{6270FB9E-561F-4C96-8960-3D032CD1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35" y="316610"/>
            <a:ext cx="8169600" cy="28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900"/>
              <a:buFont typeface="Play"/>
              <a:buNone/>
            </a:pPr>
            <a:r>
              <a:rPr sz="1900" b="1" i="0" u="none" cap="none">
                <a:solidFill>
                  <a:srgbClr val="151515"/>
                </a:solidFill>
                <a:latin typeface="Play"/>
                <a:ea typeface="Play"/>
                <a:cs typeface="Play"/>
              </a:rPr>
              <a:t>Verification detects content change, not formatting noise</a:t>
            </a:r>
            <a:endParaRPr sz="1100"/>
          </a:p>
        </p:txBody>
      </p:sp>
      <p:sp>
        <p:nvSpPr>
          <p:cNvPr id="265" name="Google Shape;265;p8">
            <a:extLst xmlns:a="http://schemas.openxmlformats.org/drawingml/2006/main">
              <a:ext uri="{FF2B5EF4-FFF2-40B4-BE49-F238E27FC236}">
                <a16:creationId xmlns:a16="http://schemas.microsoft.com/office/drawing/2014/main" id="{D90737DA-8AEE-4216-B6D6-DE2D2777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64" y="697230"/>
            <a:ext cx="80322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rPr>
              <a:t>Equivalent JSON still passes; tampering or incompatible signed claims fail.</a:t>
            </a:r>
            <a:endParaRPr sz="1100"/>
          </a:p>
        </p:txBody>
      </p:sp>
      <p:sp>
        <p:nvSpPr>
          <p:cNvPr id="267" name="Google Shape;267;p8">
            <a:extLst xmlns:a="http://schemas.openxmlformats.org/drawingml/2006/main">
              <a:ext uri="{FF2B5EF4-FFF2-40B4-BE49-F238E27FC236}">
                <a16:creationId xmlns:a16="http://schemas.microsoft.com/office/drawing/2014/main" id="{19EB337C-DCCF-4981-A8AD-BD8E6C22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770" y="1143000"/>
            <a:ext cx="1381200" cy="5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>
            <a:extLst xmlns:a="http://schemas.openxmlformats.org/drawingml/2006/main">
              <a:ext uri="{FF2B5EF4-FFF2-40B4-BE49-F238E27FC236}">
                <a16:creationId xmlns:a16="http://schemas.microsoft.com/office/drawing/2014/main" id="{769CC110-560B-4AC7-8EFD-DD177FE1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770" y="1143000"/>
            <a:ext cx="1381200" cy="5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JSON file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0" name="Google Shape;269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a4dee493a6476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2014538" y="1362075"/>
            <a:ext cx="38100" cy="76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0" name="Google Shape;270;p8">
            <a:extLst xmlns:a="http://schemas.openxmlformats.org/drawingml/2006/main">
              <a:ext uri="{FF2B5EF4-FFF2-40B4-BE49-F238E27FC236}">
                <a16:creationId xmlns:a16="http://schemas.microsoft.com/office/drawing/2014/main" id="{C23F51B9-80BD-4048-A9D3-95500A1C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63604" y="1143000"/>
            <a:ext cx="1381200" cy="5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>
            <a:extLst xmlns:a="http://schemas.openxmlformats.org/drawingml/2006/main">
              <a:ext uri="{FF2B5EF4-FFF2-40B4-BE49-F238E27FC236}">
                <a16:creationId xmlns:a16="http://schemas.microsoft.com/office/drawing/2014/main" id="{7E962A13-0BEC-4F59-A60A-D119FCC5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63604" y="1143000"/>
            <a:ext cx="1381200" cy="5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canonicalize again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3" name="Google Shape;272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c78d9221f97432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3729038" y="1362075"/>
            <a:ext cx="42900" cy="76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3" name="Google Shape;273;p8">
            <a:extLst xmlns:a="http://schemas.openxmlformats.org/drawingml/2006/main">
              <a:ext uri="{FF2B5EF4-FFF2-40B4-BE49-F238E27FC236}">
                <a16:creationId xmlns:a16="http://schemas.microsoft.com/office/drawing/2014/main" id="{67C6991E-D5DB-4B52-AF27-56DE09A3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1438" y="1143000"/>
            <a:ext cx="1381200" cy="5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753A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>
            <a:extLst xmlns:a="http://schemas.openxmlformats.org/drawingml/2006/main">
              <a:ext uri="{FF2B5EF4-FFF2-40B4-BE49-F238E27FC236}">
                <a16:creationId xmlns:a16="http://schemas.microsoft.com/office/drawing/2014/main" id="{C5D726E8-0CFE-4D54-8BB0-E0C88CD3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1438" y="1143000"/>
            <a:ext cx="1381200" cy="5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SHA-256 again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6" name="Google Shape;275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c0d9f3e12c46f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5448300" y="1362075"/>
            <a:ext cx="42900" cy="76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6" name="Google Shape;276;p8">
            <a:extLst xmlns:a="http://schemas.openxmlformats.org/drawingml/2006/main">
              <a:ext uri="{FF2B5EF4-FFF2-40B4-BE49-F238E27FC236}">
                <a16:creationId xmlns:a16="http://schemas.microsoft.com/office/drawing/2014/main" id="{EEB24689-7DE1-4677-BD13-BE4D8AA4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99271" y="1143000"/>
            <a:ext cx="1381200" cy="5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>
            <a:extLst xmlns:a="http://schemas.openxmlformats.org/drawingml/2006/main">
              <a:ext uri="{FF2B5EF4-FFF2-40B4-BE49-F238E27FC236}">
                <a16:creationId xmlns:a16="http://schemas.microsoft.com/office/drawing/2014/main" id="{787F5FB1-6956-451F-B8EE-4BE28E9C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99271" y="1143000"/>
            <a:ext cx="1381200" cy="5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 DSSE signature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9" name="Google Shape;278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a4dee493a6476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7167563" y="1362075"/>
            <a:ext cx="38100" cy="76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9" name="Google Shape;279;p8">
            <a:extLst xmlns:a="http://schemas.openxmlformats.org/drawingml/2006/main">
              <a:ext uri="{FF2B5EF4-FFF2-40B4-BE49-F238E27FC236}">
                <a16:creationId xmlns:a16="http://schemas.microsoft.com/office/drawing/2014/main" id="{2E98EF9F-432B-49AC-9843-E8FA977B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7105" y="1143000"/>
            <a:ext cx="1381200" cy="5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E86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>
            <a:extLst xmlns:a="http://schemas.openxmlformats.org/drawingml/2006/main">
              <a:ext uri="{FF2B5EF4-FFF2-40B4-BE49-F238E27FC236}">
                <a16:creationId xmlns:a16="http://schemas.microsoft.com/office/drawing/2014/main" id="{5D2FF14A-59BB-4AF6-855B-05F7CAD0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7105" y="1143000"/>
            <a:ext cx="1381200" cy="5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 Statement digest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2" name="Google Shape;282;p8">
            <a:extLst xmlns:a="http://schemas.openxmlformats.org/drawingml/2006/main">
              <a:ext uri="{FF2B5EF4-FFF2-40B4-BE49-F238E27FC236}">
                <a16:creationId xmlns:a16="http://schemas.microsoft.com/office/drawing/2014/main" id="{AD1B65D8-ED01-4092-8640-6C9BBFF2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746" y="1952548"/>
            <a:ext cx="3804075" cy="1955497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300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>
            <a:extLst xmlns:a="http://schemas.openxmlformats.org/drawingml/2006/main">
              <a:ext uri="{FF2B5EF4-FFF2-40B4-BE49-F238E27FC236}">
                <a16:creationId xmlns:a16="http://schemas.microsoft.com/office/drawing/2014/main" id="{F5289529-44A9-4B53-BF6A-EF121AC9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746" y="1952548"/>
            <a:ext cx="54486" cy="195549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>
            <a:extLst xmlns:a="http://schemas.openxmlformats.org/drawingml/2006/main">
              <a:ext uri="{FF2B5EF4-FFF2-40B4-BE49-F238E27FC236}">
                <a16:creationId xmlns:a16="http://schemas.microsoft.com/office/drawing/2014/main" id="{ACEC20EB-4149-4E4C-9DBA-28CBB1A3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991" y="2063234"/>
            <a:ext cx="3351351" cy="1734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What teams can rely on:</a:t>
            </a:r>
            <a:endParaRPr sz="12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B2D2F"/>
                </a:solidFill>
                <a:latin typeface="Arial"/>
                <a:ea typeface="Arial"/>
                <a:cs typeface="Arial"/>
              </a:rPr>
              <a:t>Whitespace or key-order changes do not invalidate approval.</a:t>
            </a:r>
            <a:endParaRPr sz="1000">
              <a:solidFill>
                <a:srgbClr val="2B2D2F"/>
              </a:solidFill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B2D2F"/>
                </a:solidFill>
                <a:latin typeface="Arial"/>
                <a:ea typeface="Arial"/>
                <a:cs typeface="Arial"/>
              </a:rPr>
              <a:t>Changed JSON content changes the digest and fails.</a:t>
            </a:r>
            <a:endParaRPr sz="1000">
              <a:solidFill>
                <a:srgbClr val="2B2D2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B2D2F"/>
                </a:solidFill>
                <a:latin typeface="Arial"/>
                <a:ea typeface="Arial"/>
                <a:cs typeface="Arial"/>
              </a:rPr>
              <a:t>Wrong keys or modified DSSE signatures fail.</a:t>
            </a:r>
            <a:endParaRPr sz="1000">
              <a:solidFill>
                <a:srgbClr val="2B2D2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B2D2F"/>
                </a:solidFill>
                <a:latin typeface="Arial"/>
                <a:ea typeface="Arial"/>
                <a:cs typeface="Arial"/>
              </a:rPr>
              <a:t>Unexpected Statement, predicate, or subject structures fail.</a:t>
            </a:r>
            <a:endParaRPr sz="1000">
              <a:solidFill>
                <a:srgbClr val="2B2D2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B2D2F"/>
                </a:solidFill>
                <a:latin typeface="Arial"/>
                <a:ea typeface="Arial"/>
                <a:cs typeface="Arial"/>
              </a:rPr>
              <a:t>Verification does not modify the artifact.</a:t>
            </a:r>
            <a:endParaRPr sz="1000">
              <a:solidFill>
                <a:srgbClr val="2B2D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5" name="Google Shape;285;p8">
            <a:extLst xmlns:a="http://schemas.openxmlformats.org/drawingml/2006/main">
              <a:ext uri="{FF2B5EF4-FFF2-40B4-BE49-F238E27FC236}">
                <a16:creationId xmlns:a16="http://schemas.microsoft.com/office/drawing/2014/main" id="{AC8B7661-E967-4015-9261-8F64126D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935" y="1952548"/>
            <a:ext cx="3804075" cy="1955497"/>
          </a:xfrm>
          <a:prstGeom xmlns:a="http://schemas.openxmlformats.org/drawingml/2006/main" prst="roundRect">
            <a:avLst>
              <a:gd name="adj" fmla="val 3018"/>
            </a:avLst>
          </a:prstGeom>
          <a:solidFill xmlns:a="http://schemas.openxmlformats.org/drawingml/2006/main">
            <a:srgbClr val="1E1E2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>
            <a:extLst xmlns:a="http://schemas.openxmlformats.org/drawingml/2006/main">
              <a:ext uri="{FF2B5EF4-FFF2-40B4-BE49-F238E27FC236}">
                <a16:creationId xmlns:a16="http://schemas.microsoft.com/office/drawing/2014/main" id="{EE6A6AB2-84BB-4390-850B-33C4E119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1901" y="2054698"/>
            <a:ext cx="90715" cy="90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5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>
            <a:extLst xmlns:a="http://schemas.openxmlformats.org/drawingml/2006/main">
              <a:ext uri="{FF2B5EF4-FFF2-40B4-BE49-F238E27FC236}">
                <a16:creationId xmlns:a16="http://schemas.microsoft.com/office/drawing/2014/main" id="{E02176D4-B096-4E82-B7FA-6F5A4459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6801" y="2054698"/>
            <a:ext cx="90715" cy="90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>
            <a:extLst xmlns:a="http://schemas.openxmlformats.org/drawingml/2006/main">
              <a:ext uri="{FF2B5EF4-FFF2-40B4-BE49-F238E27FC236}">
                <a16:creationId xmlns:a16="http://schemas.microsoft.com/office/drawing/2014/main" id="{F126C54A-EA68-4D42-8D14-A3FE335F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91726" y="2054697"/>
            <a:ext cx="90715" cy="90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9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>
            <a:extLst xmlns:a="http://schemas.openxmlformats.org/drawingml/2006/main">
              <a:ext uri="{FF2B5EF4-FFF2-40B4-BE49-F238E27FC236}">
                <a16:creationId xmlns:a16="http://schemas.microsoft.com/office/drawing/2014/main" id="{110EF516-F35C-43CB-AC7C-0D337C30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4537" y="2026338"/>
            <a:ext cx="2717196" cy="1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7C7C93"/>
                </a:solidFill>
                <a:latin typeface="Courier New"/>
                <a:ea typeface="Courier New"/>
                <a:cs typeface="Courier New"/>
              </a:rPr>
              <a:t>trestle verify</a:t>
            </a:r>
            <a:endParaRPr sz="900">
              <a:solidFill>
                <a:srgbClr val="7C7C93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290" name="Google Shape;290;p8">
            <a:extLst xmlns:a="http://schemas.openxmlformats.org/drawingml/2006/main">
              <a:ext uri="{FF2B5EF4-FFF2-40B4-BE49-F238E27FC236}">
                <a16:creationId xmlns:a16="http://schemas.microsoft.com/office/drawing/2014/main" id="{46397EA3-190B-4A00-8824-C62DC9CB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70081" y="2284604"/>
            <a:ext cx="3441782" cy="1475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trestle verify </a:t>
            </a:r>
            <a:r>
              <a:rPr sz="105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\</a:t>
            </a:r>
            <a:endParaRPr sz="1050" b="1">
              <a:solidFill>
                <a:srgbClr val="AE81FF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-f</a:t>
            </a:r>
            <a:r>
              <a:rPr sz="105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catalog.json \</a:t>
            </a:r>
            <a:endParaRPr sz="1050">
              <a:solidFill>
                <a:srgbClr val="E6DB74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--signature </a:t>
            </a:r>
            <a:r>
              <a:rPr sz="105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catalog.json.dsse \</a:t>
            </a:r>
            <a:endParaRPr sz="1050">
              <a:solidFill>
                <a:srgbClr val="E6DB74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--public-key </a:t>
            </a:r>
            <a:r>
              <a:rPr sz="105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public.pem</a:t>
            </a:r>
            <a:endParaRPr sz="1050">
              <a:solidFill>
                <a:srgbClr val="E6DB74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291" name="Google Shape;291;p8">
            <a:extLst xmlns:a="http://schemas.openxmlformats.org/drawingml/2006/main">
              <a:ext uri="{FF2B5EF4-FFF2-40B4-BE49-F238E27FC236}">
                <a16:creationId xmlns:a16="http://schemas.microsoft.com/office/drawing/2014/main" id="{C7DC7FBF-B049-45D0-8F88-025C0BE731B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93099" y="4786875"/>
            <a:ext cx="1992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893995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7" name="Google Shape;297;g3f6e9ee073a_0_0">
            <a:extLst xmlns:a="http://schemas.openxmlformats.org/drawingml/2006/main">
              <a:ext uri="{FF2B5EF4-FFF2-40B4-BE49-F238E27FC236}">
                <a16:creationId xmlns:a16="http://schemas.microsoft.com/office/drawing/2014/main" id="{127B6FB2-FAB8-49E0-86C7-D4E91680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35" y="316610"/>
            <a:ext cx="8169600" cy="28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900"/>
              <a:buFont typeface="Play"/>
              <a:buNone/>
            </a:pPr>
            <a:r>
              <a:rPr sz="19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A reusable beta framework enables controlled experimentation</a:t>
            </a:r>
            <a:endParaRPr sz="1100"/>
          </a:p>
        </p:txBody>
      </p:sp>
      <p:sp>
        <p:nvSpPr>
          <p:cNvPr id="298" name="Google Shape;298;g3f6e9ee073a_0_0">
            <a:extLst xmlns:a="http://schemas.openxmlformats.org/drawingml/2006/main">
              <a:ext uri="{FF2B5EF4-FFF2-40B4-BE49-F238E27FC236}">
                <a16:creationId xmlns:a16="http://schemas.microsoft.com/office/drawing/2014/main" id="{E353902A-3C38-4FBB-B17C-BC43AF24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64" y="697230"/>
            <a:ext cx="80322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800"/>
              <a:buFont typeface="Arial"/>
              <a:buNone/>
            </a:pPr>
            <a:r>
              <a:rPr sz="800">
                <a:solidFill>
                  <a:srgbClr val="6A6E73"/>
                </a:solidFill>
              </a:rPr>
              <a:t>New capabilities can mature behind explicit opt-in without disrupting stable workflows.</a:t>
            </a:r>
            <a:endParaRPr sz="1100"/>
          </a:p>
        </p:txBody>
      </p:sp>
      <p:sp>
        <p:nvSpPr>
          <p:cNvPr id="300" name="Google Shape;300;g3f6e9ee073a_0_0">
            <a:extLst xmlns:a="http://schemas.openxmlformats.org/drawingml/2006/main">
              <a:ext uri="{FF2B5EF4-FFF2-40B4-BE49-F238E27FC236}">
                <a16:creationId xmlns:a16="http://schemas.microsoft.com/office/drawing/2014/main" id="{3FB3866B-CFAC-4D1F-9474-9C48A08D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0349" y="1058874"/>
            <a:ext cx="3804075" cy="932661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300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f6e9ee073a_0_0">
            <a:extLst xmlns:a="http://schemas.openxmlformats.org/drawingml/2006/main">
              <a:ext uri="{FF2B5EF4-FFF2-40B4-BE49-F238E27FC236}">
                <a16:creationId xmlns:a16="http://schemas.microsoft.com/office/drawing/2014/main" id="{9BAC7E16-BD5B-40DB-ADC5-B7A19EA8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0349" y="1058874"/>
            <a:ext cx="54486" cy="93266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f6e9ee073a_0_0">
            <a:extLst xmlns:a="http://schemas.openxmlformats.org/drawingml/2006/main">
              <a:ext uri="{FF2B5EF4-FFF2-40B4-BE49-F238E27FC236}">
                <a16:creationId xmlns:a16="http://schemas.microsoft.com/office/drawing/2014/main" id="{7EC0D5A1-E86C-49A8-A0BA-0B9A41D9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8594" y="1111661"/>
            <a:ext cx="3351351" cy="826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Created for this project</a:t>
            </a:r>
            <a:endParaRPr sz="12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1050"/>
              </a:spcBef>
              <a:spcAft>
                <a:spcPts val="750"/>
              </a:spcAft>
              <a:buNone/>
            </a:pPr>
            <a:r>
              <a:rPr sz="1000">
                <a:solidFill>
                  <a:srgbClr val="2B2D2F"/>
                </a:solidFill>
              </a:rPr>
              <a:t>The reusable beta framework adds feature discovery, enable/disable controls, and one-time --beta execution.</a:t>
            </a:r>
            <a:endParaRPr sz="1000">
              <a:solidFill>
                <a:srgbClr val="2B2D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3" name="Google Shape;303;g3f6e9ee073a_0_0">
            <a:extLst xmlns:a="http://schemas.openxmlformats.org/drawingml/2006/main">
              <a:ext uri="{FF2B5EF4-FFF2-40B4-BE49-F238E27FC236}">
                <a16:creationId xmlns:a16="http://schemas.microsoft.com/office/drawing/2014/main" id="{591598C4-C12F-4935-AFD7-DBE21AAE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225" y="1594000"/>
            <a:ext cx="3804075" cy="2447742"/>
          </a:xfrm>
          <a:prstGeom xmlns:a="http://schemas.openxmlformats.org/drawingml/2006/main" prst="roundRect">
            <a:avLst>
              <a:gd name="adj" fmla="val 3018"/>
            </a:avLst>
          </a:prstGeom>
          <a:solidFill xmlns:a="http://schemas.openxmlformats.org/drawingml/2006/main">
            <a:srgbClr val="1E1E2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f6e9ee073a_0_0">
            <a:extLst xmlns:a="http://schemas.openxmlformats.org/drawingml/2006/main">
              <a:ext uri="{FF2B5EF4-FFF2-40B4-BE49-F238E27FC236}">
                <a16:creationId xmlns:a16="http://schemas.microsoft.com/office/drawing/2014/main" id="{93C25E4D-C183-4318-B776-2E2B5275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9199" y="1696148"/>
            <a:ext cx="90715" cy="90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5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f6e9ee073a_0_0">
            <a:extLst xmlns:a="http://schemas.openxmlformats.org/drawingml/2006/main">
              <a:ext uri="{FF2B5EF4-FFF2-40B4-BE49-F238E27FC236}">
                <a16:creationId xmlns:a16="http://schemas.microsoft.com/office/drawing/2014/main" id="{0E55453F-3852-4432-A727-85C0E604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099" y="1696147"/>
            <a:ext cx="90715" cy="90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f6e9ee073a_0_0">
            <a:extLst xmlns:a="http://schemas.openxmlformats.org/drawingml/2006/main">
              <a:ext uri="{FF2B5EF4-FFF2-40B4-BE49-F238E27FC236}">
                <a16:creationId xmlns:a16="http://schemas.microsoft.com/office/drawing/2014/main" id="{8DBD0213-E144-47E8-A871-A9F72596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9025" y="1696147"/>
            <a:ext cx="90715" cy="90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9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f6e9ee073a_0_0">
            <a:extLst xmlns:a="http://schemas.openxmlformats.org/drawingml/2006/main">
              <a:ext uri="{FF2B5EF4-FFF2-40B4-BE49-F238E27FC236}">
                <a16:creationId xmlns:a16="http://schemas.microsoft.com/office/drawing/2014/main" id="{90B2B765-5EFC-4949-95D7-F8285A79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1836" y="1667789"/>
            <a:ext cx="2717196" cy="1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7C7C93"/>
                </a:solidFill>
                <a:latin typeface="Courier New"/>
                <a:ea typeface="Courier New"/>
                <a:cs typeface="Courier New"/>
              </a:rPr>
              <a:t>trestle </a:t>
            </a:r>
            <a:r>
              <a:rPr sz="900">
                <a:solidFill>
                  <a:srgbClr val="7C7C93"/>
                </a:solidFill>
                <a:latin typeface="Courier New"/>
                <a:ea typeface="Courier New"/>
                <a:cs typeface="Courier New"/>
              </a:rPr>
              <a:t>beta</a:t>
            </a:r>
            <a:endParaRPr sz="900">
              <a:solidFill>
                <a:srgbClr val="7C7C93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308" name="Google Shape;308;g3f6e9ee073a_0_0">
            <a:extLst xmlns:a="http://schemas.openxmlformats.org/drawingml/2006/main">
              <a:ext uri="{FF2B5EF4-FFF2-40B4-BE49-F238E27FC236}">
                <a16:creationId xmlns:a16="http://schemas.microsoft.com/office/drawing/2014/main" id="{A8E4636A-5A2A-44B6-ACCD-29DCF8F0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371" y="2009634"/>
            <a:ext cx="3441782" cy="1847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050">
                <a:solidFill>
                  <a:schemeClr val="lt1"/>
                </a:solidFill>
                <a:latin typeface="Courier New"/>
                <a:ea typeface="Courier New"/>
                <a:cs typeface="Courier New"/>
              </a:rPr>
              <a:t>trestle beta </a:t>
            </a:r>
            <a:r>
              <a:rPr sz="1050" b="1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query</a:t>
            </a:r>
            <a:endParaRPr sz="1050" b="1">
              <a:solidFill>
                <a:srgbClr val="AE81FF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50" b="1">
              <a:solidFill>
                <a:srgbClr val="AE81FF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050">
                <a:solidFill>
                  <a:schemeClr val="lt1"/>
                </a:solidFill>
                <a:latin typeface="Courier New"/>
                <a:ea typeface="Courier New"/>
                <a:cs typeface="Courier New"/>
              </a:rPr>
              <a:t>trestle beta </a:t>
            </a:r>
            <a:r>
              <a:rPr sz="1050" b="1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enable</a:t>
            </a:r>
            <a:r>
              <a:rPr sz="1050">
                <a:solidFill>
                  <a:schemeClr val="lt1"/>
                </a:solidFill>
                <a:latin typeface="Courier New"/>
                <a:ea typeface="Courier New"/>
                <a:cs typeface="Courier New"/>
              </a:rPr>
              <a:t> json-signing</a:t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050">
                <a:solidFill>
                  <a:schemeClr val="lt1"/>
                </a:solidFill>
                <a:latin typeface="Courier New"/>
                <a:ea typeface="Courier New"/>
                <a:cs typeface="Courier New"/>
              </a:rPr>
              <a:t>trestle beta </a:t>
            </a:r>
            <a:r>
              <a:rPr sz="1050" b="1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disable</a:t>
            </a:r>
            <a:r>
              <a:rPr sz="1050">
                <a:solidFill>
                  <a:schemeClr val="lt1"/>
                </a:solidFill>
                <a:latin typeface="Courier New"/>
                <a:ea typeface="Courier New"/>
                <a:cs typeface="Courier New"/>
              </a:rPr>
              <a:t> json-signing</a:t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050">
                <a:solidFill>
                  <a:schemeClr val="lt1"/>
                </a:solidFill>
                <a:latin typeface="Courier New"/>
                <a:ea typeface="Courier New"/>
                <a:cs typeface="Courier New"/>
              </a:rPr>
              <a:t>trestle sign </a:t>
            </a:r>
            <a:r>
              <a:rPr sz="1050" b="1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--beta </a:t>
            </a:r>
            <a:r>
              <a:rPr sz="1050">
                <a:solidFill>
                  <a:schemeClr val="lt1"/>
                </a:solidFill>
                <a:latin typeface="Courier New"/>
                <a:ea typeface="Courier New"/>
                <a:cs typeface="Courier New"/>
              </a:rPr>
              <a:t>...</a:t>
            </a:r>
            <a:br/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50">
                <a:solidFill>
                  <a:schemeClr val="lt1"/>
                </a:solidFill>
                <a:latin typeface="Courier New"/>
                <a:ea typeface="Courier New"/>
                <a:cs typeface="Courier New"/>
              </a:rPr>
              <a:t>trestle beta </a:t>
            </a:r>
            <a:r>
              <a:rPr sz="1050" b="1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enable</a:t>
            </a:r>
            <a:r>
              <a:rPr sz="1050">
                <a:solidFill>
                  <a:schemeClr val="lt1"/>
                </a:solidFill>
                <a:latin typeface="Courier New"/>
                <a:ea typeface="Courier New"/>
                <a:cs typeface="Courier New"/>
              </a:rPr>
              <a:t> all</a:t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309" name="Google Shape;309;g3f6e9ee073a_0_0">
            <a:extLst xmlns:a="http://schemas.openxmlformats.org/drawingml/2006/main">
              <a:ext uri="{FF2B5EF4-FFF2-40B4-BE49-F238E27FC236}">
                <a16:creationId xmlns:a16="http://schemas.microsoft.com/office/drawing/2014/main" id="{40ADB855-2DE4-455E-9CB7-EDA5BB70DFB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93098" y="4786875"/>
            <a:ext cx="1992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  <p:sp>
        <p:nvSpPr>
          <p:cNvPr id="311" name="Google Shape;311;g3f6e9ee073a_0_0">
            <a:extLst xmlns:a="http://schemas.openxmlformats.org/drawingml/2006/main">
              <a:ext uri="{FF2B5EF4-FFF2-40B4-BE49-F238E27FC236}">
                <a16:creationId xmlns:a16="http://schemas.microsoft.com/office/drawing/2014/main" id="{A4E0088E-221B-49E1-86C4-FCC1468B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0351" y="2143898"/>
            <a:ext cx="3804075" cy="1105180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300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f6e9ee073a_0_0">
            <a:extLst xmlns:a="http://schemas.openxmlformats.org/drawingml/2006/main">
              <a:ext uri="{FF2B5EF4-FFF2-40B4-BE49-F238E27FC236}">
                <a16:creationId xmlns:a16="http://schemas.microsoft.com/office/drawing/2014/main" id="{B2410891-65DA-4240-B419-13389B7F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0351" y="2143898"/>
            <a:ext cx="54486" cy="11051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6e9ee073a_0_0">
            <a:extLst xmlns:a="http://schemas.openxmlformats.org/drawingml/2006/main">
              <a:ext uri="{FF2B5EF4-FFF2-40B4-BE49-F238E27FC236}">
                <a16:creationId xmlns:a16="http://schemas.microsoft.com/office/drawing/2014/main" id="{2F9700A9-D7B6-410C-8BCA-674A7C56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8596" y="2206449"/>
            <a:ext cx="3351351" cy="979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Used by integrity features</a:t>
            </a:r>
            <a:endParaRPr sz="12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B2D2F"/>
                </a:solidFill>
              </a:rPr>
              <a:t>json-signing gates single-file signing and verification.</a:t>
            </a:r>
            <a:endParaRPr sz="1000">
              <a:solidFill>
                <a:srgbClr val="2B2D2F"/>
              </a:solidFill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B2D2F"/>
                </a:solidFill>
              </a:rPr>
              <a:t>json-manifest-signing gates package generation, signing, and verification.</a:t>
            </a:r>
            <a:endParaRPr sz="1000">
              <a:solidFill>
                <a:srgbClr val="2B2D2F"/>
              </a:solidFill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t/>
            </a:r>
            <a:endParaRPr sz="1000">
              <a:solidFill>
                <a:srgbClr val="2B2D2F"/>
              </a:solidFill>
            </a:endParaRPr>
          </a:p>
        </p:txBody>
      </p:sp>
      <p:sp>
        <p:nvSpPr>
          <p:cNvPr id="315" name="Google Shape;315;g3f6e9ee073a_0_0">
            <a:extLst xmlns:a="http://schemas.openxmlformats.org/drawingml/2006/main">
              <a:ext uri="{FF2B5EF4-FFF2-40B4-BE49-F238E27FC236}">
                <a16:creationId xmlns:a16="http://schemas.microsoft.com/office/drawing/2014/main" id="{DF4BE3D7-0FCC-4B33-98F3-500DC8C9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0350" y="3427575"/>
            <a:ext cx="3804075" cy="984004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300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f6e9ee073a_0_0">
            <a:extLst xmlns:a="http://schemas.openxmlformats.org/drawingml/2006/main">
              <a:ext uri="{FF2B5EF4-FFF2-40B4-BE49-F238E27FC236}">
                <a16:creationId xmlns:a16="http://schemas.microsoft.com/office/drawing/2014/main" id="{F813F2CD-FA6A-4FE7-BC5B-BCF7DFC2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0350" y="3427575"/>
            <a:ext cx="54486" cy="9840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6e9ee073a_0_0">
            <a:extLst xmlns:a="http://schemas.openxmlformats.org/drawingml/2006/main">
              <a:ext uri="{FF2B5EF4-FFF2-40B4-BE49-F238E27FC236}">
                <a16:creationId xmlns:a16="http://schemas.microsoft.com/office/drawing/2014/main" id="{E68A8343-9495-4117-84BB-64EB81EE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8593" y="3483266"/>
            <a:ext cx="3351351" cy="872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Reusable by Trestle</a:t>
            </a:r>
            <a:endParaRPr sz="12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B2D2F"/>
                </a:solidFill>
              </a:rPr>
              <a:t>Future commands can use the same opt-in mechanism before their interfaces become stable.</a:t>
            </a:r>
            <a:endParaRPr sz="1000">
              <a:solidFill>
                <a:srgbClr val="2B2D2F"/>
              </a:solidFill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t/>
            </a:r>
            <a:endParaRPr sz="1000">
              <a:solidFill>
                <a:srgbClr val="2B2D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18915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3" name="Google Shape;323;p9">
            <a:extLst xmlns:a="http://schemas.openxmlformats.org/drawingml/2006/main">
              <a:ext uri="{FF2B5EF4-FFF2-40B4-BE49-F238E27FC236}">
                <a16:creationId xmlns:a16="http://schemas.microsoft.com/office/drawing/2014/main" id="{F1B1EBF7-FB3A-4B29-B699-50AC1F14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35" y="316610"/>
            <a:ext cx="81696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900"/>
              <a:buFont typeface="Play"/>
              <a:buNone/>
            </a:pPr>
            <a:r>
              <a:rPr sz="1900" b="1" i="0" u="none" cap="none">
                <a:solidFill>
                  <a:srgbClr val="151515"/>
                </a:solidFill>
                <a:latin typeface="Play"/>
                <a:ea typeface="Play"/>
                <a:cs typeface="Play"/>
              </a:rPr>
              <a:t>Practical demo path</a:t>
            </a:r>
            <a:endParaRPr sz="1100"/>
          </a:p>
        </p:txBody>
      </p:sp>
      <p:sp>
        <p:nvSpPr>
          <p:cNvPr id="324" name="Google Shape;324;p9">
            <a:extLst xmlns:a="http://schemas.openxmlformats.org/drawingml/2006/main">
              <a:ext uri="{FF2B5EF4-FFF2-40B4-BE49-F238E27FC236}">
                <a16:creationId xmlns:a16="http://schemas.microsoft.com/office/drawing/2014/main" id="{DE8C9BFC-EED9-43AA-A1DA-015B6DCE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64" y="697230"/>
            <a:ext cx="80322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rPr>
              <a:t>The same flow works locally, in release automation, or as a CI gate.</a:t>
            </a:r>
            <a:endParaRPr sz="1100"/>
          </a:p>
        </p:txBody>
      </p:sp>
      <p:sp>
        <p:nvSpPr>
          <p:cNvPr id="326" name="Google Shape;326;p9">
            <a:extLst xmlns:a="http://schemas.openxmlformats.org/drawingml/2006/main">
              <a:ext uri="{FF2B5EF4-FFF2-40B4-BE49-F238E27FC236}">
                <a16:creationId xmlns:a16="http://schemas.microsoft.com/office/drawing/2014/main" id="{15518E39-E401-49E7-BB78-7589AEAF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973" y="1166339"/>
            <a:ext cx="4420495" cy="245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1. Generate keys</a:t>
            </a:r>
            <a:endParaRPr sz="1100" b="1">
              <a:solidFill>
                <a:srgbClr val="151515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327" name="Google Shape;327;p9">
            <a:extLst xmlns:a="http://schemas.openxmlformats.org/drawingml/2006/main">
              <a:ext uri="{FF2B5EF4-FFF2-40B4-BE49-F238E27FC236}">
                <a16:creationId xmlns:a16="http://schemas.microsoft.com/office/drawing/2014/main" id="{959A5E96-FAC5-4933-8DF1-A8CBCA4F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973" y="1456090"/>
            <a:ext cx="4537007" cy="713232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E1E2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>
            <a:extLst xmlns:a="http://schemas.openxmlformats.org/drawingml/2006/main">
              <a:ext uri="{FF2B5EF4-FFF2-40B4-BE49-F238E27FC236}">
                <a16:creationId xmlns:a16="http://schemas.microsoft.com/office/drawing/2014/main" id="{0710D5B2-17C6-4B81-8270-4AB19B0A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3036" y="1545244"/>
            <a:ext cx="93063" cy="891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5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>
            <a:extLst xmlns:a="http://schemas.openxmlformats.org/drawingml/2006/main">
              <a:ext uri="{FF2B5EF4-FFF2-40B4-BE49-F238E27FC236}">
                <a16:creationId xmlns:a16="http://schemas.microsoft.com/office/drawing/2014/main" id="{210DBBE1-937C-433F-8435-8DF18F0C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2631" y="1545244"/>
            <a:ext cx="93063" cy="891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>
            <a:extLst xmlns:a="http://schemas.openxmlformats.org/drawingml/2006/main">
              <a:ext uri="{FF2B5EF4-FFF2-40B4-BE49-F238E27FC236}">
                <a16:creationId xmlns:a16="http://schemas.microsoft.com/office/drawing/2014/main" id="{9BC774DB-65F0-41D1-922D-CF1DF654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226" y="1545244"/>
            <a:ext cx="93063" cy="891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9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>
            <a:extLst xmlns:a="http://schemas.openxmlformats.org/drawingml/2006/main">
              <a:ext uri="{FF2B5EF4-FFF2-40B4-BE49-F238E27FC236}">
                <a16:creationId xmlns:a16="http://schemas.microsoft.com/office/drawing/2014/main" id="{2726B765-65BB-4B98-845A-2B4A57BB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669" y="1701263"/>
            <a:ext cx="4362239" cy="401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openssl</a:t>
            </a:r>
            <a:r>
              <a:rPr sz="8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genpkey -algorithm ed25519 -out private.pem</a:t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150"/>
              </a:spcBef>
              <a:spcAft>
                <a:spcPts val="0"/>
              </a:spcAft>
              <a:buNone/>
            </a:pPr>
            <a:r>
              <a:rPr sz="800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openssl</a:t>
            </a:r>
            <a:r>
              <a:rPr sz="8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pkey -in private.pem -pubout -out public.pem</a:t>
            </a:r>
            <a:endParaRPr sz="80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332" name="Google Shape;332;p9">
            <a:extLst xmlns:a="http://schemas.openxmlformats.org/drawingml/2006/main">
              <a:ext uri="{FF2B5EF4-FFF2-40B4-BE49-F238E27FC236}">
                <a16:creationId xmlns:a16="http://schemas.microsoft.com/office/drawing/2014/main" id="{507174A6-0E5D-4723-9A5F-0478E9A1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973" y="2392207"/>
            <a:ext cx="4420495" cy="245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2. Sign JSON</a:t>
            </a:r>
            <a:endParaRPr sz="1100" b="1">
              <a:solidFill>
                <a:srgbClr val="151515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333" name="Google Shape;333;p9">
            <a:extLst xmlns:a="http://schemas.openxmlformats.org/drawingml/2006/main">
              <a:ext uri="{FF2B5EF4-FFF2-40B4-BE49-F238E27FC236}">
                <a16:creationId xmlns:a16="http://schemas.microsoft.com/office/drawing/2014/main" id="{CDA9B6B9-08FF-44CD-A152-3640D647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973" y="2681957"/>
            <a:ext cx="4537007" cy="51281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E1E2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>
            <a:extLst xmlns:a="http://schemas.openxmlformats.org/drawingml/2006/main">
              <a:ext uri="{FF2B5EF4-FFF2-40B4-BE49-F238E27FC236}">
                <a16:creationId xmlns:a16="http://schemas.microsoft.com/office/drawing/2014/main" id="{801B261C-9800-4B9C-A134-8206B8A5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3036" y="2748823"/>
            <a:ext cx="93063" cy="891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5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>
            <a:extLst xmlns:a="http://schemas.openxmlformats.org/drawingml/2006/main">
              <a:ext uri="{FF2B5EF4-FFF2-40B4-BE49-F238E27FC236}">
                <a16:creationId xmlns:a16="http://schemas.microsoft.com/office/drawing/2014/main" id="{718E91EF-311F-4FF2-A89C-4FFE1E4A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2631" y="2748823"/>
            <a:ext cx="93063" cy="891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>
            <a:extLst xmlns:a="http://schemas.openxmlformats.org/drawingml/2006/main">
              <a:ext uri="{FF2B5EF4-FFF2-40B4-BE49-F238E27FC236}">
                <a16:creationId xmlns:a16="http://schemas.microsoft.com/office/drawing/2014/main" id="{E82F5707-A4DC-40AF-A674-9D33A822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226" y="2748823"/>
            <a:ext cx="93063" cy="891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9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>
            <a:extLst xmlns:a="http://schemas.openxmlformats.org/drawingml/2006/main">
              <a:ext uri="{FF2B5EF4-FFF2-40B4-BE49-F238E27FC236}">
                <a16:creationId xmlns:a16="http://schemas.microsoft.com/office/drawing/2014/main" id="{21FED789-A697-4674-91B9-E604C92C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669" y="2904842"/>
            <a:ext cx="4362239" cy="245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8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trestle</a:t>
            </a:r>
            <a:r>
              <a:rPr sz="68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sign -f catalog.json --private-key private.pem -o catalog.json.dsse</a:t>
            </a:r>
            <a:endParaRPr sz="68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338" name="Google Shape;338;p9">
            <a:extLst xmlns:a="http://schemas.openxmlformats.org/drawingml/2006/main">
              <a:ext uri="{FF2B5EF4-FFF2-40B4-BE49-F238E27FC236}">
                <a16:creationId xmlns:a16="http://schemas.microsoft.com/office/drawing/2014/main" id="{6D4440E7-7F2D-4A49-9DF4-B521A687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973" y="3417478"/>
            <a:ext cx="4420495" cy="245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3. Verify JSON</a:t>
            </a:r>
            <a:endParaRPr sz="1100" b="1">
              <a:solidFill>
                <a:srgbClr val="151515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339" name="Google Shape;339;p9">
            <a:extLst xmlns:a="http://schemas.openxmlformats.org/drawingml/2006/main">
              <a:ext uri="{FF2B5EF4-FFF2-40B4-BE49-F238E27FC236}">
                <a16:creationId xmlns:a16="http://schemas.microsoft.com/office/drawing/2014/main" id="{D3CC5F8C-B10C-4B86-9B61-DC918AA6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973" y="3707228"/>
            <a:ext cx="4537007" cy="51281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E1E2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>
            <a:extLst xmlns:a="http://schemas.openxmlformats.org/drawingml/2006/main">
              <a:ext uri="{FF2B5EF4-FFF2-40B4-BE49-F238E27FC236}">
                <a16:creationId xmlns:a16="http://schemas.microsoft.com/office/drawing/2014/main" id="{4075C3E6-BCD1-421D-BBA8-46DEFA94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3036" y="3774094"/>
            <a:ext cx="93063" cy="891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5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>
            <a:extLst xmlns:a="http://schemas.openxmlformats.org/drawingml/2006/main">
              <a:ext uri="{FF2B5EF4-FFF2-40B4-BE49-F238E27FC236}">
                <a16:creationId xmlns:a16="http://schemas.microsoft.com/office/drawing/2014/main" id="{AED70AD6-EFFF-4A5B-9D02-38B1BD42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2631" y="3774094"/>
            <a:ext cx="93063" cy="891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>
            <a:extLst xmlns:a="http://schemas.openxmlformats.org/drawingml/2006/main">
              <a:ext uri="{FF2B5EF4-FFF2-40B4-BE49-F238E27FC236}">
                <a16:creationId xmlns:a16="http://schemas.microsoft.com/office/drawing/2014/main" id="{5996FD42-EE2C-4AF7-887A-A24641F2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226" y="3774094"/>
            <a:ext cx="93063" cy="891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9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>
            <a:extLst xmlns:a="http://schemas.openxmlformats.org/drawingml/2006/main">
              <a:ext uri="{FF2B5EF4-FFF2-40B4-BE49-F238E27FC236}">
                <a16:creationId xmlns:a16="http://schemas.microsoft.com/office/drawing/2014/main" id="{55918903-527D-4D8A-B790-58FE5BA2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669" y="3930113"/>
            <a:ext cx="4769665" cy="245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80">
                <a:solidFill>
                  <a:srgbClr val="3E8635"/>
                </a:solidFill>
                <a:latin typeface="Courier New"/>
                <a:ea typeface="Courier New"/>
                <a:cs typeface="Courier New"/>
              </a:rPr>
              <a:t>trestle</a:t>
            </a:r>
            <a:r>
              <a:rPr sz="68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verify -f catalog.json --signature catalog.json.dsse --public-key public.pem</a:t>
            </a:r>
            <a:endParaRPr sz="68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346" name="Google Shape;346;p9">
            <a:extLst xmlns:a="http://schemas.openxmlformats.org/drawingml/2006/main">
              <a:ext uri="{FF2B5EF4-FFF2-40B4-BE49-F238E27FC236}">
                <a16:creationId xmlns:a16="http://schemas.microsoft.com/office/drawing/2014/main" id="{2143CDDC-5F3F-4A99-B709-4E1FE62A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322" y="1607617"/>
            <a:ext cx="3299672" cy="903922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>
            <a:extLst xmlns:a="http://schemas.openxmlformats.org/drawingml/2006/main">
              <a:ext uri="{FF2B5EF4-FFF2-40B4-BE49-F238E27FC236}">
                <a16:creationId xmlns:a16="http://schemas.microsoft.com/office/drawing/2014/main" id="{8E47068A-4FB8-4795-A095-87E2CC23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4322" y="1607617"/>
            <a:ext cx="48412" cy="903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86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>
            <a:extLst xmlns:a="http://schemas.openxmlformats.org/drawingml/2006/main">
              <a:ext uri="{FF2B5EF4-FFF2-40B4-BE49-F238E27FC236}">
                <a16:creationId xmlns:a16="http://schemas.microsoft.com/office/drawing/2014/main" id="{B08A967E-49BD-419A-B4A5-A17C1933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1371" y="1698000"/>
            <a:ext cx="2961543" cy="723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11827"/>
                </a:solidFill>
                <a:latin typeface="Play"/>
                <a:ea typeface="Play"/>
                <a:cs typeface="Play"/>
              </a:rPr>
              <a:t>Real-world confidence</a:t>
            </a:r>
            <a:endParaRPr sz="1200" b="1">
              <a:solidFill>
                <a:srgbClr val="111827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950">
                <a:solidFill>
                  <a:srgbClr val="4B5563"/>
                </a:solidFill>
                <a:latin typeface="Arial"/>
                <a:ea typeface="Arial"/>
                <a:cs typeface="Arial"/>
              </a:rPr>
              <a:t>Exercised with a large NIST SP 800-53 catalog and negative cases for tampering, malformed JSON, wrong keys, and incompatible claims.</a:t>
            </a:r>
            <a:endParaRPr sz="95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0" name="Google Shape;350;p9">
            <a:extLst xmlns:a="http://schemas.openxmlformats.org/drawingml/2006/main">
              <a:ext uri="{FF2B5EF4-FFF2-40B4-BE49-F238E27FC236}">
                <a16:creationId xmlns:a16="http://schemas.microsoft.com/office/drawing/2014/main" id="{EEA0EF2C-F980-4181-A5BB-A63D3B13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2310" y="2928105"/>
            <a:ext cx="3299672" cy="903922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">
            <a:extLst xmlns:a="http://schemas.openxmlformats.org/drawingml/2006/main">
              <a:ext uri="{FF2B5EF4-FFF2-40B4-BE49-F238E27FC236}">
                <a16:creationId xmlns:a16="http://schemas.microsoft.com/office/drawing/2014/main" id="{43EF2719-B59D-4622-A018-7C6BE4DE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2310" y="2928105"/>
            <a:ext cx="48412" cy="90392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">
            <a:extLst xmlns:a="http://schemas.openxmlformats.org/drawingml/2006/main">
              <a:ext uri="{FF2B5EF4-FFF2-40B4-BE49-F238E27FC236}">
                <a16:creationId xmlns:a16="http://schemas.microsoft.com/office/drawing/2014/main" id="{A6A33A25-2FC0-4FDA-9B3C-0407E9A3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358" y="3018488"/>
            <a:ext cx="2961543" cy="723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11827"/>
                </a:solidFill>
                <a:latin typeface="Play"/>
                <a:ea typeface="Play"/>
                <a:cs typeface="Play"/>
              </a:rPr>
              <a:t>Operational key handling</a:t>
            </a:r>
            <a:endParaRPr sz="1200" b="1">
              <a:solidFill>
                <a:srgbClr val="111827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950">
                <a:solidFill>
                  <a:srgbClr val="4B5563"/>
                </a:solidFill>
                <a:latin typeface="Arial"/>
                <a:ea typeface="Arial"/>
                <a:cs typeface="Arial"/>
              </a:rPr>
              <a:t>Ed25519 and RSA PEM keys are supported; encrypted-key passwords come from an environment variable, not the command line.</a:t>
            </a:r>
            <a:endParaRPr sz="95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3" name="Google Shape;353;p9">
            <a:extLst xmlns:a="http://schemas.openxmlformats.org/drawingml/2006/main">
              <a:ext uri="{FF2B5EF4-FFF2-40B4-BE49-F238E27FC236}">
                <a16:creationId xmlns:a16="http://schemas.microsoft.com/office/drawing/2014/main" id="{A07E63D7-E7C3-4259-AE10-EAD272A12C9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93099" y="4786875"/>
            <a:ext cx="1644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503831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9" name="Google Shape;359;p10">
            <a:extLst xmlns:a="http://schemas.openxmlformats.org/drawingml/2006/main">
              <a:ext uri="{FF2B5EF4-FFF2-40B4-BE49-F238E27FC236}">
                <a16:creationId xmlns:a16="http://schemas.microsoft.com/office/drawing/2014/main" id="{734A7581-7EC5-4179-8D07-F126ECDF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35" y="316610"/>
            <a:ext cx="8169600" cy="28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900"/>
              <a:buFont typeface="Play"/>
              <a:buNone/>
            </a:pPr>
            <a:r>
              <a:rPr sz="19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Package verification detects dependency changes</a:t>
            </a:r>
            <a:endParaRPr sz="1100"/>
          </a:p>
        </p:txBody>
      </p:sp>
      <p:sp>
        <p:nvSpPr>
          <p:cNvPr id="360" name="Google Shape;360;p10">
            <a:extLst xmlns:a="http://schemas.openxmlformats.org/drawingml/2006/main">
              <a:ext uri="{FF2B5EF4-FFF2-40B4-BE49-F238E27FC236}">
                <a16:creationId xmlns:a16="http://schemas.microsoft.com/office/drawing/2014/main" id="{8BA98513-099F-4064-808C-D3E6CBBC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64" y="697230"/>
            <a:ext cx="80322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rPr>
              <a:t>A signed SSP is incomplete evidence if its profile or catalog can change independently.</a:t>
            </a:r>
            <a:endParaRPr sz="1100"/>
          </a:p>
        </p:txBody>
      </p:sp>
      <p:sp>
        <p:nvSpPr>
          <p:cNvPr id="362" name="Google Shape;362;p10">
            <a:extLst xmlns:a="http://schemas.openxmlformats.org/drawingml/2006/main">
              <a:ext uri="{FF2B5EF4-FFF2-40B4-BE49-F238E27FC236}">
                <a16:creationId xmlns:a16="http://schemas.microsoft.com/office/drawing/2014/main" id="{6E366D2B-371D-4222-9AB4-B0E6CCE4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225" y="1116325"/>
            <a:ext cx="1524000" cy="400200"/>
          </a:xfrm>
          <a:prstGeom xmlns:a="http://schemas.openxmlformats.org/drawingml/2006/main" prst="roundRect">
            <a:avLst>
              <a:gd name="adj" fmla="val 11904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>
            <a:extLst xmlns:a="http://schemas.openxmlformats.org/drawingml/2006/main">
              <a:ext uri="{FF2B5EF4-FFF2-40B4-BE49-F238E27FC236}">
                <a16:creationId xmlns:a16="http://schemas.microsoft.com/office/drawing/2014/main" id="{AC5F096E-E43B-4E86-99F9-D12DEDCF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225" y="1116325"/>
            <a:ext cx="15240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catalog</a:t>
            </a:r>
            <a:endParaRPr sz="1000" b="1">
              <a:solidFill>
                <a:srgbClr val="FFFFFF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395" name="Google Shape;364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f55834e8ad4c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2113100" y="1249675"/>
            <a:ext cx="214200" cy="13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5" name="Google Shape;365;p10">
            <a:extLst xmlns:a="http://schemas.openxmlformats.org/drawingml/2006/main">
              <a:ext uri="{FF2B5EF4-FFF2-40B4-BE49-F238E27FC236}">
                <a16:creationId xmlns:a16="http://schemas.microsoft.com/office/drawing/2014/main" id="{D0CA3E02-86A1-4B3D-893E-A0444831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46475" y="1116325"/>
            <a:ext cx="1524000" cy="400200"/>
          </a:xfrm>
          <a:prstGeom xmlns:a="http://schemas.openxmlformats.org/drawingml/2006/main" prst="roundRect">
            <a:avLst>
              <a:gd name="adj" fmla="val 11904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>
            <a:extLst xmlns:a="http://schemas.openxmlformats.org/drawingml/2006/main">
              <a:ext uri="{FF2B5EF4-FFF2-40B4-BE49-F238E27FC236}">
                <a16:creationId xmlns:a16="http://schemas.microsoft.com/office/drawing/2014/main" id="{CE3FA04C-BFAB-46A3-93D5-C8C239D0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46475" y="1116325"/>
            <a:ext cx="15240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profile</a:t>
            </a:r>
            <a:endParaRPr sz="1000" b="1">
              <a:solidFill>
                <a:srgbClr val="FFFFFF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398" name="Google Shape;367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f55834e8ad4c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4113350" y="1249675"/>
            <a:ext cx="214200" cy="13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8" name="Google Shape;368;p10">
            <a:extLst xmlns:a="http://schemas.openxmlformats.org/drawingml/2006/main">
              <a:ext uri="{FF2B5EF4-FFF2-40B4-BE49-F238E27FC236}">
                <a16:creationId xmlns:a16="http://schemas.microsoft.com/office/drawing/2014/main" id="{0F9F079D-EB47-4E15-9096-5E39FFB2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6725" y="1116325"/>
            <a:ext cx="1524000" cy="400200"/>
          </a:xfrm>
          <a:prstGeom xmlns:a="http://schemas.openxmlformats.org/drawingml/2006/main" prst="roundRect">
            <a:avLst>
              <a:gd name="adj" fmla="val 11904"/>
            </a:avLst>
          </a:prstGeom>
          <a:solidFill xmlns:a="http://schemas.openxmlformats.org/drawingml/2006/main">
            <a:srgbClr val="6753A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">
            <a:extLst xmlns:a="http://schemas.openxmlformats.org/drawingml/2006/main">
              <a:ext uri="{FF2B5EF4-FFF2-40B4-BE49-F238E27FC236}">
                <a16:creationId xmlns:a16="http://schemas.microsoft.com/office/drawing/2014/main" id="{DA2BBE62-4E1A-459A-8514-10CE0ABB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6725" y="1116325"/>
            <a:ext cx="15240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SSP</a:t>
            </a:r>
            <a:endParaRPr sz="1000" b="1">
              <a:solidFill>
                <a:srgbClr val="FFFFFF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401" name="Google Shape;370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f55834e8ad4c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6113600" y="1249675"/>
            <a:ext cx="214200" cy="13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1" name="Google Shape;371;p10">
            <a:extLst xmlns:a="http://schemas.openxmlformats.org/drawingml/2006/main">
              <a:ext uri="{FF2B5EF4-FFF2-40B4-BE49-F238E27FC236}">
                <a16:creationId xmlns:a16="http://schemas.microsoft.com/office/drawing/2014/main" id="{06BEAB2A-09F2-4279-8307-60097DD1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46975" y="1116325"/>
            <a:ext cx="1524000" cy="400200"/>
          </a:xfrm>
          <a:prstGeom xmlns:a="http://schemas.openxmlformats.org/drawingml/2006/main" prst="roundRect">
            <a:avLst>
              <a:gd name="adj" fmla="val 11904"/>
            </a:avLst>
          </a:prstGeom>
          <a:solidFill xmlns:a="http://schemas.openxmlformats.org/drawingml/2006/main">
            <a:srgbClr val="EE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">
            <a:extLst xmlns:a="http://schemas.openxmlformats.org/drawingml/2006/main">
              <a:ext uri="{FF2B5EF4-FFF2-40B4-BE49-F238E27FC236}">
                <a16:creationId xmlns:a16="http://schemas.microsoft.com/office/drawing/2014/main" id="{2D6A31E4-3A0C-4CE3-9E29-216CD2C1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46975" y="1116325"/>
            <a:ext cx="15240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signed package</a:t>
            </a:r>
            <a:endParaRPr sz="1000" b="1">
              <a:solidFill>
                <a:srgbClr val="FFFFFF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374" name="Google Shape;374;p10">
            <a:extLst xmlns:a="http://schemas.openxmlformats.org/drawingml/2006/main">
              <a:ext uri="{FF2B5EF4-FFF2-40B4-BE49-F238E27FC236}">
                <a16:creationId xmlns:a16="http://schemas.microsoft.com/office/drawing/2014/main" id="{5DCBA544-F14F-47B4-B763-63A0A2FB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75" y="1832375"/>
            <a:ext cx="3600300" cy="2574626"/>
          </a:xfrm>
          <a:prstGeom xmlns:a="http://schemas.openxmlformats.org/drawingml/2006/main" prst="roundRect">
            <a:avLst>
              <a:gd name="adj" fmla="val 20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">
            <a:extLst xmlns:a="http://schemas.openxmlformats.org/drawingml/2006/main">
              <a:ext uri="{FF2B5EF4-FFF2-40B4-BE49-F238E27FC236}">
                <a16:creationId xmlns:a16="http://schemas.microsoft.com/office/drawing/2014/main" id="{1B8034D3-0ED0-44C0-AB6C-E4496203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675" y="1832375"/>
            <a:ext cx="57300" cy="25746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">
            <a:extLst xmlns:a="http://schemas.openxmlformats.org/drawingml/2006/main">
              <a:ext uri="{FF2B5EF4-FFF2-40B4-BE49-F238E27FC236}">
                <a16:creationId xmlns:a16="http://schemas.microsoft.com/office/drawing/2014/main" id="{A114D594-5211-4272-BB10-0C576111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8337" y="1942503"/>
            <a:ext cx="3208800" cy="19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Verification mechanics</a:t>
            </a:r>
            <a:endParaRPr sz="1300" b="1">
              <a:solidFill>
                <a:srgbClr val="151515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457200" lvl="0" indent="-292100" algn="l">
              <a:spcBef>
                <a:spcPts val="1125"/>
              </a:spcBef>
              <a:spcAft>
                <a:spcPts val="0"/>
              </a:spcAft>
              <a:buClr>
                <a:srgbClr val="2B2D2F"/>
              </a:buClr>
              <a:buSzPts val="1000"/>
              <a:buFont typeface="Arial"/>
              <a:buChar char="●"/>
            </a:pPr>
            <a:r>
              <a:rPr sz="10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Scope limitation:</a:t>
            </a:r>
            <a:r>
              <a:rPr sz="1000">
                <a:solidFill>
                  <a:srgbClr val="2B2D2F"/>
                </a:solidFill>
                <a:latin typeface="Arial"/>
                <a:ea typeface="Arial"/>
                <a:cs typeface="Arial"/>
              </a:rPr>
              <a:t> </a:t>
            </a:r>
            <a:r>
              <a:rPr sz="1000">
                <a:solidFill>
                  <a:srgbClr val="2B2D2F"/>
                </a:solidFill>
              </a:rPr>
              <a:t>A single-file signature protects only the SSP’s canonical JSON content.</a:t>
            </a:r>
            <a:endParaRPr sz="1000">
              <a:solidFill>
                <a:srgbClr val="2B2D2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lvl="0" indent="-292100" algn="l">
              <a:spcBef>
                <a:spcPts val="900"/>
              </a:spcBef>
              <a:spcAft>
                <a:spcPts val="0"/>
              </a:spcAft>
              <a:buClr>
                <a:srgbClr val="2B2D2F"/>
              </a:buClr>
              <a:buSzPts val="1000"/>
              <a:buFont typeface="Arial"/>
              <a:buChar char="●"/>
            </a:pPr>
            <a:r>
              <a:rPr sz="10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Dependency mapping:</a:t>
            </a:r>
            <a:r>
              <a:rPr sz="1000">
                <a:solidFill>
                  <a:srgbClr val="2B2D2F"/>
                </a:solidFill>
                <a:latin typeface="Arial"/>
                <a:ea typeface="Arial"/>
                <a:cs typeface="Arial"/>
              </a:rPr>
              <a:t> generate-manifest follows the OSCAL dependency graph.</a:t>
            </a:r>
            <a:endParaRPr sz="1000">
              <a:solidFill>
                <a:srgbClr val="2B2D2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lvl="0" indent="-292100" algn="l">
              <a:spcBef>
                <a:spcPts val="900"/>
              </a:spcBef>
              <a:spcAft>
                <a:spcPts val="0"/>
              </a:spcAft>
              <a:buClr>
                <a:srgbClr val="2B2D2F"/>
              </a:buClr>
              <a:buSzPts val="1000"/>
              <a:buFont typeface="Arial"/>
              <a:buChar char="●"/>
            </a:pPr>
            <a:r>
              <a:rPr sz="10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Strict binding:</a:t>
            </a:r>
            <a:r>
              <a:rPr sz="1000">
                <a:solidFill>
                  <a:srgbClr val="2B2D2F"/>
                </a:solidFill>
                <a:latin typeface="Arial"/>
                <a:ea typeface="Arial"/>
                <a:cs typeface="Arial"/>
              </a:rPr>
              <a:t> sign-manifest binds the exact artifact set and canonical digests.</a:t>
            </a:r>
            <a:endParaRPr sz="1000">
              <a:solidFill>
                <a:srgbClr val="2B2D2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lvl="0" indent="-292100" algn="l">
              <a:spcBef>
                <a:spcPts val="900"/>
              </a:spcBef>
              <a:spcAft>
                <a:spcPts val="0"/>
              </a:spcAft>
              <a:buClr>
                <a:srgbClr val="2B2D2F"/>
              </a:buClr>
              <a:buSzPts val="1000"/>
              <a:buFont typeface="Arial"/>
              <a:buChar char="●"/>
            </a:pPr>
            <a:r>
              <a:rPr sz="10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Drift detection:</a:t>
            </a:r>
            <a:r>
              <a:rPr sz="1000">
                <a:solidFill>
                  <a:srgbClr val="2B2D2F"/>
                </a:solidFill>
                <a:latin typeface="Arial"/>
                <a:ea typeface="Arial"/>
                <a:cs typeface="Arial"/>
              </a:rPr>
              <a:t> verify-manifest fails when the manifest, signed claim, or any listed artifact no longer matches.</a:t>
            </a:r>
            <a:endParaRPr sz="1000">
              <a:solidFill>
                <a:srgbClr val="2B2D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7" name="Google Shape;377;p10">
            <a:extLst xmlns:a="http://schemas.openxmlformats.org/drawingml/2006/main">
              <a:ext uri="{FF2B5EF4-FFF2-40B4-BE49-F238E27FC236}">
                <a16:creationId xmlns:a16="http://schemas.microsoft.com/office/drawing/2014/main" id="{7F8D907B-33D1-47EA-A348-3513038D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5250" y="1834925"/>
            <a:ext cx="3804000" cy="982538"/>
          </a:xfrm>
          <a:prstGeom xmlns:a="http://schemas.openxmlformats.org/drawingml/2006/main" prst="roundRect">
            <a:avLst>
              <a:gd name="adj" fmla="val 20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>
            <a:extLst xmlns:a="http://schemas.openxmlformats.org/drawingml/2006/main">
              <a:ext uri="{FF2B5EF4-FFF2-40B4-BE49-F238E27FC236}">
                <a16:creationId xmlns:a16="http://schemas.microsoft.com/office/drawing/2014/main" id="{A1CAB50A-0B6B-4C9F-A408-A47C9052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5250" y="1834924"/>
            <a:ext cx="57300" cy="982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6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">
            <a:extLst xmlns:a="http://schemas.openxmlformats.org/drawingml/2006/main">
              <a:ext uri="{FF2B5EF4-FFF2-40B4-BE49-F238E27FC236}">
                <a16:creationId xmlns:a16="http://schemas.microsoft.com/office/drawing/2014/main" id="{2DC5917A-39AC-4FA0-9358-01CAFCA5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375" y="1878842"/>
            <a:ext cx="2952900" cy="776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Product result</a:t>
            </a:r>
            <a:endParaRPr sz="1300" b="1">
              <a:solidFill>
                <a:srgbClr val="151515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0" lvl="0" indent="0" algn="l">
              <a:spcBef>
                <a:spcPts val="1125"/>
              </a:spcBef>
              <a:spcAft>
                <a:spcPts val="0"/>
              </a:spcAft>
              <a:buNone/>
            </a:pPr>
            <a:r>
              <a:rPr sz="1000">
                <a:solidFill>
                  <a:srgbClr val="2B2D2F"/>
                </a:solidFill>
              </a:rPr>
              <a:t>Teams exchange the artifacts, an inspectable package definition, and a detached proof that pins the exact compliance content reviewed together.</a:t>
            </a:r>
            <a:endParaRPr sz="1000">
              <a:solidFill>
                <a:srgbClr val="2B2D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0" name="Google Shape;380;p10">
            <a:extLst xmlns:a="http://schemas.openxmlformats.org/drawingml/2006/main">
              <a:ext uri="{FF2B5EF4-FFF2-40B4-BE49-F238E27FC236}">
                <a16:creationId xmlns:a16="http://schemas.microsoft.com/office/drawing/2014/main" id="{DF007E96-87B2-429C-89D5-E65C5B1E1C5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93103" y="4786883"/>
            <a:ext cx="1629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  <p:sp>
        <p:nvSpPr>
          <p:cNvPr id="382" name="Google Shape;382;p10">
            <a:extLst xmlns:a="http://schemas.openxmlformats.org/drawingml/2006/main">
              <a:ext uri="{FF2B5EF4-FFF2-40B4-BE49-F238E27FC236}">
                <a16:creationId xmlns:a16="http://schemas.microsoft.com/office/drawing/2014/main" id="{DF64CA5F-B596-473F-A06D-D908B127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5163" y="3024025"/>
            <a:ext cx="3804075" cy="1383072"/>
          </a:xfrm>
          <a:prstGeom xmlns:a="http://schemas.openxmlformats.org/drawingml/2006/main" prst="roundRect">
            <a:avLst>
              <a:gd name="adj" fmla="val 3018"/>
            </a:avLst>
          </a:prstGeom>
          <a:solidFill xmlns:a="http://schemas.openxmlformats.org/drawingml/2006/main">
            <a:srgbClr val="1E1E2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0">
            <a:extLst xmlns:a="http://schemas.openxmlformats.org/drawingml/2006/main">
              <a:ext uri="{FF2B5EF4-FFF2-40B4-BE49-F238E27FC236}">
                <a16:creationId xmlns:a16="http://schemas.microsoft.com/office/drawing/2014/main" id="{3F0B1D64-05BF-4B06-8D2C-1FBF0772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8138" y="3126173"/>
            <a:ext cx="90715" cy="90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5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>
            <a:extLst xmlns:a="http://schemas.openxmlformats.org/drawingml/2006/main">
              <a:ext uri="{FF2B5EF4-FFF2-40B4-BE49-F238E27FC236}">
                <a16:creationId xmlns:a16="http://schemas.microsoft.com/office/drawing/2014/main" id="{AE416F88-7A61-403C-AA52-ABFCC77F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3038" y="3126173"/>
            <a:ext cx="90715" cy="90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0">
            <a:extLst xmlns:a="http://schemas.openxmlformats.org/drawingml/2006/main">
              <a:ext uri="{FF2B5EF4-FFF2-40B4-BE49-F238E27FC236}">
                <a16:creationId xmlns:a16="http://schemas.microsoft.com/office/drawing/2014/main" id="{D6F66382-60DC-4161-A29E-464179BA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963" y="3126172"/>
            <a:ext cx="90715" cy="90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9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>
            <a:extLst xmlns:a="http://schemas.openxmlformats.org/drawingml/2006/main">
              <a:ext uri="{FF2B5EF4-FFF2-40B4-BE49-F238E27FC236}">
                <a16:creationId xmlns:a16="http://schemas.microsoft.com/office/drawing/2014/main" id="{A9277376-7370-4621-B3E2-7656285A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0775" y="3097813"/>
            <a:ext cx="2717196" cy="1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7C7C93"/>
                </a:solidFill>
                <a:latin typeface="Courier New"/>
                <a:ea typeface="Courier New"/>
                <a:cs typeface="Courier New"/>
              </a:rPr>
              <a:t>trestle verify-manifest</a:t>
            </a:r>
            <a:endParaRPr sz="900">
              <a:solidFill>
                <a:srgbClr val="7C7C93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387" name="Google Shape;387;p10">
            <a:extLst xmlns:a="http://schemas.openxmlformats.org/drawingml/2006/main">
              <a:ext uri="{FF2B5EF4-FFF2-40B4-BE49-F238E27FC236}">
                <a16:creationId xmlns:a16="http://schemas.microsoft.com/office/drawing/2014/main" id="{89548D2D-1681-490C-8062-DC2AB0ED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6322" y="3293737"/>
            <a:ext cx="3441782" cy="1043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trestle verify-manifest </a:t>
            </a:r>
            <a:r>
              <a:rPr sz="105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\</a:t>
            </a:r>
            <a:endParaRPr sz="1050" b="1">
              <a:solidFill>
                <a:srgbClr val="AE81FF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--manifest</a:t>
            </a:r>
            <a:r>
              <a:rPr sz="105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manifest.json \</a:t>
            </a:r>
            <a:endParaRPr sz="1050">
              <a:solidFill>
                <a:srgbClr val="E6DB74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--signature </a:t>
            </a:r>
            <a:r>
              <a:rPr sz="105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package.dsse \</a:t>
            </a:r>
            <a:endParaRPr sz="1050">
              <a:solidFill>
                <a:srgbClr val="E6DB74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--public-key </a:t>
            </a:r>
            <a:r>
              <a:rPr sz="105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public.pem</a:t>
            </a:r>
            <a:endParaRPr sz="1050">
              <a:solidFill>
                <a:srgbClr val="E6DB74"/>
              </a:solidFill>
              <a:latin typeface="Courier New"/>
              <a:ea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1473772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3" name="Google Shape;393;p11">
            <a:extLst xmlns:a="http://schemas.openxmlformats.org/drawingml/2006/main">
              <a:ext uri="{FF2B5EF4-FFF2-40B4-BE49-F238E27FC236}">
                <a16:creationId xmlns:a16="http://schemas.microsoft.com/office/drawing/2014/main" id="{1756B2A0-52F1-49B6-988E-1A4C4944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35" y="316610"/>
            <a:ext cx="8169600" cy="28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900"/>
              <a:buFont typeface="Play"/>
              <a:buNone/>
            </a:pPr>
            <a:r>
              <a:rPr sz="19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One signed package answers key operational questions</a:t>
            </a:r>
            <a:endParaRPr sz="1100"/>
          </a:p>
        </p:txBody>
      </p:sp>
      <p:sp>
        <p:nvSpPr>
          <p:cNvPr id="394" name="Google Shape;394;p11">
            <a:extLst xmlns:a="http://schemas.openxmlformats.org/drawingml/2006/main">
              <a:ext uri="{FF2B5EF4-FFF2-40B4-BE49-F238E27FC236}">
                <a16:creationId xmlns:a16="http://schemas.microsoft.com/office/drawing/2014/main" id="{C83DE8A9-A686-431C-8260-2D187BFC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64" y="697230"/>
            <a:ext cx="80322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rPr>
              <a:t>Which artifacts were reviewed, which exact versions, and whether the current package still matches.</a:t>
            </a:r>
            <a:endParaRPr sz="1100"/>
          </a:p>
        </p:txBody>
      </p:sp>
      <p:sp>
        <p:nvSpPr>
          <p:cNvPr id="396" name="Google Shape;396;p11">
            <a:extLst xmlns:a="http://schemas.openxmlformats.org/drawingml/2006/main">
              <a:ext uri="{FF2B5EF4-FFF2-40B4-BE49-F238E27FC236}">
                <a16:creationId xmlns:a16="http://schemas.microsoft.com/office/drawing/2014/main" id="{7817F5B0-06C2-421E-9B69-6A04071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75" y="1153600"/>
            <a:ext cx="23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inspectable package</a:t>
            </a:r>
            <a:endParaRPr sz="1100" b="1">
              <a:solidFill>
                <a:srgbClr val="151515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397" name="Google Shape;397;p11">
            <a:extLst xmlns:a="http://schemas.openxmlformats.org/drawingml/2006/main">
              <a:ext uri="{FF2B5EF4-FFF2-40B4-BE49-F238E27FC236}">
                <a16:creationId xmlns:a16="http://schemas.microsoft.com/office/drawing/2014/main" id="{E0FCDBA1-B892-480D-AA67-7198DCB2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75" y="1503950"/>
            <a:ext cx="3429000" cy="2686500"/>
          </a:xfrm>
          <a:prstGeom xmlns:a="http://schemas.openxmlformats.org/drawingml/2006/main" prst="roundRect">
            <a:avLst>
              <a:gd name="adj" fmla="val 2495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1">
            <a:extLst xmlns:a="http://schemas.openxmlformats.org/drawingml/2006/main">
              <a:ext uri="{FF2B5EF4-FFF2-40B4-BE49-F238E27FC236}">
                <a16:creationId xmlns:a16="http://schemas.microsoft.com/office/drawing/2014/main" id="{BBE4B9A6-D3A9-4B68-A12E-97F5BAB2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75" y="1467925"/>
            <a:ext cx="3429000" cy="2478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1">
            <a:extLst xmlns:a="http://schemas.openxmlformats.org/drawingml/2006/main">
              <a:ext uri="{FF2B5EF4-FFF2-40B4-BE49-F238E27FC236}">
                <a16:creationId xmlns:a16="http://schemas.microsoft.com/office/drawing/2014/main" id="{23D6FCBE-DF3F-4E58-91AA-0540C9F8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75" y="1620325"/>
            <a:ext cx="3429000" cy="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1">
            <a:extLst xmlns:a="http://schemas.openxmlformats.org/drawingml/2006/main">
              <a:ext uri="{FF2B5EF4-FFF2-40B4-BE49-F238E27FC236}">
                <a16:creationId xmlns:a16="http://schemas.microsoft.com/office/drawing/2014/main" id="{793D5D74-D903-45CB-9F6F-C75A8CBA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863" y="1548888"/>
            <a:ext cx="85800" cy="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1">
            <a:extLst xmlns:a="http://schemas.openxmlformats.org/drawingml/2006/main">
              <a:ext uri="{FF2B5EF4-FFF2-40B4-BE49-F238E27FC236}">
                <a16:creationId xmlns:a16="http://schemas.microsoft.com/office/drawing/2014/main" id="{591587E7-E53E-47D1-A834-55AE76B9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213" y="1548888"/>
            <a:ext cx="85800" cy="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1">
            <a:extLst xmlns:a="http://schemas.openxmlformats.org/drawingml/2006/main">
              <a:ext uri="{FF2B5EF4-FFF2-40B4-BE49-F238E27FC236}">
                <a16:creationId xmlns:a16="http://schemas.microsoft.com/office/drawing/2014/main" id="{00C8839A-577D-4F4F-A065-A50D852B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6563" y="1548888"/>
            <a:ext cx="85800" cy="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">
            <a:extLst xmlns:a="http://schemas.openxmlformats.org/drawingml/2006/main">
              <a:ext uri="{FF2B5EF4-FFF2-40B4-BE49-F238E27FC236}">
                <a16:creationId xmlns:a16="http://schemas.microsoft.com/office/drawing/2014/main" id="{9867B820-F6BA-4C2C-873A-8B6E71AC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2775" y="1467925"/>
            <a:ext cx="2667000" cy="2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14287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850">
                <a:solidFill>
                  <a:srgbClr val="64748B"/>
                </a:solidFill>
                <a:latin typeface="Play"/>
                <a:ea typeface="Play"/>
                <a:cs typeface="Play"/>
              </a:rPr>
              <a:t>manifest.json</a:t>
            </a:r>
            <a:endParaRPr sz="850">
              <a:solidFill>
                <a:srgbClr val="64748B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404" name="Google Shape;404;p11">
            <a:extLst xmlns:a="http://schemas.openxmlformats.org/drawingml/2006/main">
              <a:ext uri="{FF2B5EF4-FFF2-40B4-BE49-F238E27FC236}">
                <a16:creationId xmlns:a16="http://schemas.microsoft.com/office/drawing/2014/main" id="{DF627D2D-F19E-46B5-824B-3F7971B8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4150" y="1820350"/>
            <a:ext cx="3143400" cy="18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{</a:t>
            </a:r>
            <a:endParaRPr sz="90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38BDF8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900" b="0">
                <a:solidFill>
                  <a:srgbClr val="38BDF8"/>
                </a:solidFill>
                <a:latin typeface="Courier New"/>
                <a:ea typeface="Courier New"/>
                <a:cs typeface="Courier New"/>
              </a:rPr>
              <a:t>"primaryArtifact"</a:t>
            </a: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900" b="0">
                <a:solidFill>
                  <a:srgbClr val="A3E635"/>
                </a:solidFill>
                <a:latin typeface="Courier New"/>
                <a:ea typeface="Courier New"/>
                <a:cs typeface="Courier New"/>
              </a:rPr>
              <a:t>"ssp.json"</a:t>
            </a: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,</a:t>
            </a:r>
            <a:endParaRPr sz="90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38BDF8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900" b="0">
                <a:solidFill>
                  <a:srgbClr val="38BDF8"/>
                </a:solidFill>
                <a:latin typeface="Courier New"/>
                <a:ea typeface="Courier New"/>
                <a:cs typeface="Courier New"/>
              </a:rPr>
              <a:t>"artifacts"</a:t>
            </a: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[</a:t>
            </a:r>
            <a:endParaRPr sz="90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{</a:t>
            </a:r>
            <a:r>
              <a:rPr sz="900" b="0">
                <a:solidFill>
                  <a:srgbClr val="38BDF8"/>
                </a:solidFill>
                <a:latin typeface="Courier New"/>
                <a:ea typeface="Courier New"/>
                <a:cs typeface="Courier New"/>
              </a:rPr>
              <a:t>"name"</a:t>
            </a: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900" b="0">
                <a:solidFill>
                  <a:srgbClr val="A3E635"/>
                </a:solidFill>
                <a:latin typeface="Courier New"/>
                <a:ea typeface="Courier New"/>
                <a:cs typeface="Courier New"/>
              </a:rPr>
              <a:t>"ssp.json"</a:t>
            </a: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,</a:t>
            </a:r>
            <a:endParaRPr sz="90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38BDF8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900" b="0">
                <a:solidFill>
                  <a:srgbClr val="38BDF8"/>
                </a:solidFill>
                <a:latin typeface="Courier New"/>
                <a:ea typeface="Courier New"/>
                <a:cs typeface="Courier New"/>
              </a:rPr>
              <a:t>"uri"</a:t>
            </a: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900" b="0">
                <a:solidFill>
                  <a:srgbClr val="A3E635"/>
                </a:solidFill>
                <a:latin typeface="Courier New"/>
                <a:ea typeface="Courier New"/>
                <a:cs typeface="Courier New"/>
              </a:rPr>
              <a:t>"ssp.json"</a:t>
            </a: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,</a:t>
            </a:r>
            <a:endParaRPr sz="90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38BDF8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900" b="0">
                <a:solidFill>
                  <a:srgbClr val="38BDF8"/>
                </a:solidFill>
                <a:latin typeface="Courier New"/>
                <a:ea typeface="Courier New"/>
                <a:cs typeface="Courier New"/>
              </a:rPr>
              <a:t>"mediaType"</a:t>
            </a: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900" b="0">
                <a:solidFill>
                  <a:srgbClr val="A3E635"/>
                </a:solidFill>
                <a:latin typeface="Courier New"/>
                <a:ea typeface="Courier New"/>
                <a:cs typeface="Courier New"/>
              </a:rPr>
              <a:t>"application/oscal+json"</a:t>
            </a: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},</a:t>
            </a:r>
            <a:endParaRPr sz="90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{</a:t>
            </a:r>
            <a:r>
              <a:rPr sz="900" b="0">
                <a:solidFill>
                  <a:srgbClr val="38BDF8"/>
                </a:solidFill>
                <a:latin typeface="Courier New"/>
                <a:ea typeface="Courier New"/>
                <a:cs typeface="Courier New"/>
              </a:rPr>
              <a:t>"name"</a:t>
            </a: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900" b="0">
                <a:solidFill>
                  <a:srgbClr val="A3E635"/>
                </a:solidFill>
                <a:latin typeface="Courier New"/>
                <a:ea typeface="Courier New"/>
                <a:cs typeface="Courier New"/>
              </a:rPr>
              <a:t>"profile.json"</a:t>
            </a: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,</a:t>
            </a:r>
            <a:endParaRPr sz="90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38BDF8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900" b="0">
                <a:solidFill>
                  <a:srgbClr val="38BDF8"/>
                </a:solidFill>
                <a:latin typeface="Courier New"/>
                <a:ea typeface="Courier New"/>
                <a:cs typeface="Courier New"/>
              </a:rPr>
              <a:t>"uri"</a:t>
            </a: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900" b="0">
                <a:solidFill>
                  <a:srgbClr val="A3E635"/>
                </a:solidFill>
                <a:latin typeface="Courier New"/>
                <a:ea typeface="Courier New"/>
                <a:cs typeface="Courier New"/>
              </a:rPr>
              <a:t>"profiles/profile.json"</a:t>
            </a: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,</a:t>
            </a:r>
            <a:endParaRPr sz="90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38BDF8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900" b="0">
                <a:solidFill>
                  <a:srgbClr val="38BDF8"/>
                </a:solidFill>
                <a:latin typeface="Courier New"/>
                <a:ea typeface="Courier New"/>
                <a:cs typeface="Courier New"/>
              </a:rPr>
              <a:t>"mediaType"</a:t>
            </a: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900" b="0">
                <a:solidFill>
                  <a:srgbClr val="A3E635"/>
                </a:solidFill>
                <a:latin typeface="Courier New"/>
                <a:ea typeface="Courier New"/>
                <a:cs typeface="Courier New"/>
              </a:rPr>
              <a:t>"application/oscal+json"</a:t>
            </a: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}</a:t>
            </a:r>
            <a:endParaRPr sz="90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]</a:t>
            </a:r>
            <a:endParaRPr sz="90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}</a:t>
            </a:r>
            <a:endParaRPr sz="900" b="0">
              <a:solidFill>
                <a:srgbClr val="F8F8F2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05" name="Google Shape;405;p11">
            <a:extLst xmlns:a="http://schemas.openxmlformats.org/drawingml/2006/main">
              <a:ext uri="{FF2B5EF4-FFF2-40B4-BE49-F238E27FC236}">
                <a16:creationId xmlns:a16="http://schemas.microsoft.com/office/drawing/2014/main" id="{F30FFD5C-96CA-4FC6-A760-EFFA1400788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93103" y="4786883"/>
            <a:ext cx="1575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  <p:sp>
        <p:nvSpPr>
          <p:cNvPr id="407" name="Google Shape;407;p11">
            <a:extLst xmlns:a="http://schemas.openxmlformats.org/drawingml/2006/main">
              <a:ext uri="{FF2B5EF4-FFF2-40B4-BE49-F238E27FC236}">
                <a16:creationId xmlns:a16="http://schemas.microsoft.com/office/drawing/2014/main" id="{03582303-AF05-48EA-9E05-48761576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4850" y="1482325"/>
            <a:ext cx="1913100" cy="10953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1">
            <a:extLst xmlns:a="http://schemas.openxmlformats.org/drawingml/2006/main">
              <a:ext uri="{FF2B5EF4-FFF2-40B4-BE49-F238E27FC236}">
                <a16:creationId xmlns:a16="http://schemas.microsoft.com/office/drawing/2014/main" id="{2F836407-91FE-4D82-910E-188D2422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4850" y="1482325"/>
            <a:ext cx="57300" cy="10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86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1">
            <a:extLst xmlns:a="http://schemas.openxmlformats.org/drawingml/2006/main">
              <a:ext uri="{FF2B5EF4-FFF2-40B4-BE49-F238E27FC236}">
                <a16:creationId xmlns:a16="http://schemas.microsoft.com/office/drawing/2014/main" id="{859E3B19-AFC5-45FD-B9E0-C77A41CD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0504" y="1577575"/>
            <a:ext cx="1730400" cy="9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What belongs</a:t>
            </a:r>
            <a:endParaRPr sz="1200" b="1">
              <a:solidFill>
                <a:srgbClr val="151515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The manifest declares the primary artifact, package-relative identities, and exact</a:t>
            </a:r>
            <a:r>
              <a:rPr sz="1000">
                <a:solidFill>
                  <a:srgbClr val="4B5563"/>
                </a:solidFill>
              </a:rPr>
              <a:t> file list</a:t>
            </a:r>
            <a:r>
              <a:rPr sz="10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.</a:t>
            </a:r>
            <a:endParaRPr sz="1000" b="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0" name="Google Shape;410;p11">
            <a:extLst xmlns:a="http://schemas.openxmlformats.org/drawingml/2006/main">
              <a:ext uri="{FF2B5EF4-FFF2-40B4-BE49-F238E27FC236}">
                <a16:creationId xmlns:a16="http://schemas.microsoft.com/office/drawing/2014/main" id="{F521B0D8-E9A3-46C5-8458-0B51B133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85850" y="1482325"/>
            <a:ext cx="1982700" cy="10953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>
            <a:extLst xmlns:a="http://schemas.openxmlformats.org/drawingml/2006/main">
              <a:ext uri="{FF2B5EF4-FFF2-40B4-BE49-F238E27FC236}">
                <a16:creationId xmlns:a16="http://schemas.microsoft.com/office/drawing/2014/main" id="{DD97C27F-3E69-4C21-AAB0-D85623B7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85850" y="1482325"/>
            <a:ext cx="57300" cy="10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B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1">
            <a:extLst xmlns:a="http://schemas.openxmlformats.org/drawingml/2006/main">
              <a:ext uri="{FF2B5EF4-FFF2-40B4-BE49-F238E27FC236}">
                <a16:creationId xmlns:a16="http://schemas.microsoft.com/office/drawing/2014/main" id="{82014063-71E4-4ABD-A138-F2951C47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84991" y="1577575"/>
            <a:ext cx="1793700" cy="9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What still matches</a:t>
            </a:r>
            <a:endParaRPr sz="1200" b="1">
              <a:solidFill>
                <a:srgbClr val="151515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The Statement carries every canonical digest. Verification checks the declared list and each file’s digest.</a:t>
            </a:r>
            <a:endParaRPr sz="1000" b="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4" name="Google Shape;414;p11">
            <a:extLst xmlns:a="http://schemas.openxmlformats.org/drawingml/2006/main">
              <a:ext uri="{FF2B5EF4-FFF2-40B4-BE49-F238E27FC236}">
                <a16:creationId xmlns:a16="http://schemas.microsoft.com/office/drawing/2014/main" id="{363229E6-7EA7-4F73-8A29-2A8C242D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4851" y="2771350"/>
            <a:ext cx="4103609" cy="1383072"/>
          </a:xfrm>
          <a:prstGeom xmlns:a="http://schemas.openxmlformats.org/drawingml/2006/main" prst="roundRect">
            <a:avLst>
              <a:gd name="adj" fmla="val 3018"/>
            </a:avLst>
          </a:prstGeom>
          <a:solidFill xmlns:a="http://schemas.openxmlformats.org/drawingml/2006/main">
            <a:srgbClr val="1E1E2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>
            <a:extLst xmlns:a="http://schemas.openxmlformats.org/drawingml/2006/main">
              <a:ext uri="{FF2B5EF4-FFF2-40B4-BE49-F238E27FC236}">
                <a16:creationId xmlns:a16="http://schemas.microsoft.com/office/drawing/2014/main" id="{A1BFC4C3-57F1-46BE-9F5C-609A6806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7813" y="2873498"/>
            <a:ext cx="90715" cy="90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5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1">
            <a:extLst xmlns:a="http://schemas.openxmlformats.org/drawingml/2006/main">
              <a:ext uri="{FF2B5EF4-FFF2-40B4-BE49-F238E27FC236}">
                <a16:creationId xmlns:a16="http://schemas.microsoft.com/office/drawing/2014/main" id="{4ADFEEFB-C737-48C4-9844-173D98D0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2713" y="2873498"/>
            <a:ext cx="90715" cy="90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1">
            <a:extLst xmlns:a="http://schemas.openxmlformats.org/drawingml/2006/main">
              <a:ext uri="{FF2B5EF4-FFF2-40B4-BE49-F238E27FC236}">
                <a16:creationId xmlns:a16="http://schemas.microsoft.com/office/drawing/2014/main" id="{2E87858E-D4C5-4837-8D3D-048D31C2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7638" y="2873497"/>
            <a:ext cx="90715" cy="90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9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>
            <a:extLst xmlns:a="http://schemas.openxmlformats.org/drawingml/2006/main">
              <a:ext uri="{FF2B5EF4-FFF2-40B4-BE49-F238E27FC236}">
                <a16:creationId xmlns:a16="http://schemas.microsoft.com/office/drawing/2014/main" id="{A472C1E4-EB36-4C08-98A4-7FE6AA0A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0449" y="2845138"/>
            <a:ext cx="2717196" cy="1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7C7C93"/>
                </a:solidFill>
                <a:latin typeface="Courier New"/>
                <a:ea typeface="Courier New"/>
                <a:cs typeface="Courier New"/>
              </a:rPr>
              <a:t>trestle sign-manifest</a:t>
            </a:r>
            <a:endParaRPr sz="900">
              <a:solidFill>
                <a:srgbClr val="7C7C93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419" name="Google Shape;419;p11">
            <a:extLst xmlns:a="http://schemas.openxmlformats.org/drawingml/2006/main">
              <a:ext uri="{FF2B5EF4-FFF2-40B4-BE49-F238E27FC236}">
                <a16:creationId xmlns:a16="http://schemas.microsoft.com/office/drawing/2014/main" id="{523A7852-8D32-437E-A5E6-FD4A2D45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0266" y="3006213"/>
            <a:ext cx="3712789" cy="1043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trestle sign-manifest </a:t>
            </a:r>
            <a:r>
              <a:rPr sz="1050" b="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\</a:t>
            </a:r>
            <a:endParaRPr sz="1050" b="1">
              <a:solidFill>
                <a:srgbClr val="AE81FF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--manifest</a:t>
            </a:r>
            <a:r>
              <a:rPr sz="105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manifest.json</a:t>
            </a:r>
            <a:r>
              <a:rPr sz="105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\</a:t>
            </a:r>
            <a:endParaRPr sz="1050">
              <a:solidFill>
                <a:srgbClr val="E6DB74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--</a:t>
            </a:r>
            <a:r>
              <a:rPr sz="105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private-key</a:t>
            </a:r>
            <a:r>
              <a:rPr sz="105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5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private.pem</a:t>
            </a:r>
            <a:r>
              <a:rPr sz="105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 \</a:t>
            </a:r>
            <a:endParaRPr sz="1050">
              <a:solidFill>
                <a:srgbClr val="E6DB74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05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-o </a:t>
            </a:r>
            <a:r>
              <a:rPr sz="1050">
                <a:solidFill>
                  <a:srgbClr val="F8F8F2"/>
                </a:solidFill>
                <a:latin typeface="Courier New"/>
                <a:ea typeface="Courier New"/>
                <a:cs typeface="Courier New"/>
              </a:rPr>
              <a:t>package.dsse</a:t>
            </a:r>
            <a:endParaRPr sz="1050">
              <a:solidFill>
                <a:srgbClr val="E6DB74"/>
              </a:solidFill>
              <a:latin typeface="Courier New"/>
              <a:ea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12657357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5" name="Google Shape;425;p12">
            <a:extLst xmlns:a="http://schemas.openxmlformats.org/drawingml/2006/main">
              <a:ext uri="{FF2B5EF4-FFF2-40B4-BE49-F238E27FC236}">
                <a16:creationId xmlns:a16="http://schemas.microsoft.com/office/drawing/2014/main" id="{5239E510-D2C2-4E48-9F2F-756A7B5A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35" y="316610"/>
            <a:ext cx="8169600" cy="28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900"/>
              <a:buFont typeface="Play"/>
              <a:buNone/>
            </a:pPr>
            <a:r>
              <a:rPr sz="1900" b="1" i="0" u="none" cap="none">
                <a:solidFill>
                  <a:srgbClr val="151515"/>
                </a:solidFill>
                <a:latin typeface="Play"/>
                <a:ea typeface="Play"/>
                <a:cs typeface="Play"/>
              </a:rPr>
              <a:t>Trestle builds the package from OSCAL references</a:t>
            </a:r>
            <a:endParaRPr sz="1100"/>
          </a:p>
        </p:txBody>
      </p:sp>
      <p:sp>
        <p:nvSpPr>
          <p:cNvPr id="426" name="Google Shape;426;p12">
            <a:extLst xmlns:a="http://schemas.openxmlformats.org/drawingml/2006/main">
              <a:ext uri="{FF2B5EF4-FFF2-40B4-BE49-F238E27FC236}">
                <a16:creationId xmlns:a16="http://schemas.microsoft.com/office/drawing/2014/main" id="{E5B79851-AFA2-4856-A192-AE63E0C0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64" y="697230"/>
            <a:ext cx="80322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rPr>
              <a:t>Start with one model</a:t>
            </a:r>
            <a:r>
              <a:rPr sz="800">
                <a:solidFill>
                  <a:srgbClr val="6A6E73"/>
                </a:solidFill>
              </a:rPr>
              <a:t>,</a:t>
            </a:r>
            <a:r>
              <a:rPr sz="8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rPr>
              <a:t> generate an inspectable manifest before anyone signs.</a:t>
            </a:r>
            <a:endParaRPr sz="1100"/>
          </a:p>
        </p:txBody>
      </p:sp>
      <p:sp>
        <p:nvSpPr>
          <p:cNvPr id="427" name="Google Shape;427;p12">
            <a:extLst xmlns:a="http://schemas.openxmlformats.org/drawingml/2006/main">
              <a:ext uri="{FF2B5EF4-FFF2-40B4-BE49-F238E27FC236}">
                <a16:creationId xmlns:a16="http://schemas.microsoft.com/office/drawing/2014/main" id="{277CDFE6-ABC1-4103-8A27-5D8BD9ED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0" y="1031295"/>
            <a:ext cx="1544700" cy="476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2">
            <a:extLst xmlns:a="http://schemas.openxmlformats.org/drawingml/2006/main">
              <a:ext uri="{FF2B5EF4-FFF2-40B4-BE49-F238E27FC236}">
                <a16:creationId xmlns:a16="http://schemas.microsoft.com/office/drawing/2014/main" id="{326719D2-9E28-4619-AC2A-5E438B43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52" y="1166550"/>
            <a:ext cx="1407300" cy="20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Primary model</a:t>
            </a:r>
            <a:endParaRPr sz="1000" b="1">
              <a:solidFill>
                <a:srgbClr val="FFFFFF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429" name="Google Shape;429;p12">
            <a:extLst xmlns:a="http://schemas.openxmlformats.org/drawingml/2006/main">
              <a:ext uri="{FF2B5EF4-FFF2-40B4-BE49-F238E27FC236}">
                <a16:creationId xmlns:a16="http://schemas.microsoft.com/office/drawing/2014/main" id="{0268A154-3FDF-485C-B845-3B5C4728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681" y="1230176"/>
            <a:ext cx="2676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Google Shape;430;p12">
            <a:extLst xmlns:a="http://schemas.openxmlformats.org/drawingml/2006/main">
              <a:ext uri="{FF2B5EF4-FFF2-40B4-BE49-F238E27FC236}">
                <a16:creationId xmlns:a16="http://schemas.microsoft.com/office/drawing/2014/main" id="{68C57665-E64F-4A19-8D3E-47F97647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342" y="1031295"/>
            <a:ext cx="1544700" cy="476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6753A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>
            <a:extLst xmlns:a="http://schemas.openxmlformats.org/drawingml/2006/main">
              <a:ext uri="{FF2B5EF4-FFF2-40B4-BE49-F238E27FC236}">
                <a16:creationId xmlns:a16="http://schemas.microsoft.com/office/drawing/2014/main" id="{59D7BA75-3405-4CE4-8935-AB1B8F89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999" y="1166550"/>
            <a:ext cx="1407300" cy="20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Resolve imports</a:t>
            </a:r>
            <a:endParaRPr sz="1000" b="1">
              <a:solidFill>
                <a:srgbClr val="FFFFFF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432" name="Google Shape;432;p12">
            <a:extLst xmlns:a="http://schemas.openxmlformats.org/drawingml/2006/main">
              <a:ext uri="{FF2B5EF4-FFF2-40B4-BE49-F238E27FC236}">
                <a16:creationId xmlns:a16="http://schemas.microsoft.com/office/drawing/2014/main" id="{5F867BF2-A9FD-452C-A477-DDD3B8C6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923" y="1230176"/>
            <a:ext cx="2676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Google Shape;433;p12">
            <a:extLst xmlns:a="http://schemas.openxmlformats.org/drawingml/2006/main">
              <a:ext uri="{FF2B5EF4-FFF2-40B4-BE49-F238E27FC236}">
                <a16:creationId xmlns:a16="http://schemas.microsoft.com/office/drawing/2014/main" id="{D01EB1B1-A785-4EDA-8825-73A13847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583" y="1031295"/>
            <a:ext cx="1544700" cy="476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2">
            <a:extLst xmlns:a="http://schemas.openxmlformats.org/drawingml/2006/main">
              <a:ext uri="{FF2B5EF4-FFF2-40B4-BE49-F238E27FC236}">
                <a16:creationId xmlns:a16="http://schemas.microsoft.com/office/drawing/2014/main" id="{D4699A0E-AAF8-4DAC-B3C0-53F7AF85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239" y="1166550"/>
            <a:ext cx="1407300" cy="20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Collect artifact references</a:t>
            </a:r>
            <a:endParaRPr sz="1000" b="1">
              <a:solidFill>
                <a:srgbClr val="FFFFFF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435" name="Google Shape;435;p12">
            <a:extLst xmlns:a="http://schemas.openxmlformats.org/drawingml/2006/main">
              <a:ext uri="{FF2B5EF4-FFF2-40B4-BE49-F238E27FC236}">
                <a16:creationId xmlns:a16="http://schemas.microsoft.com/office/drawing/2014/main" id="{FE83278A-1808-4515-9302-78D1911B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165" y="1230176"/>
            <a:ext cx="2676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Google Shape;436;p12">
            <a:extLst xmlns:a="http://schemas.openxmlformats.org/drawingml/2006/main">
              <a:ext uri="{FF2B5EF4-FFF2-40B4-BE49-F238E27FC236}">
                <a16:creationId xmlns:a16="http://schemas.microsoft.com/office/drawing/2014/main" id="{741111A6-2B5F-4F76-B7BA-DAF8EBB7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832" y="1031295"/>
            <a:ext cx="1544700" cy="476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E86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>
            <a:extLst xmlns:a="http://schemas.openxmlformats.org/drawingml/2006/main">
              <a:ext uri="{FF2B5EF4-FFF2-40B4-BE49-F238E27FC236}">
                <a16:creationId xmlns:a16="http://schemas.microsoft.com/office/drawing/2014/main" id="{877B73C5-0D20-4C0F-92C8-80D7C5E8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479" y="1166550"/>
            <a:ext cx="1407300" cy="20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manifest.json</a:t>
            </a:r>
            <a:endParaRPr sz="1000" b="1">
              <a:solidFill>
                <a:srgbClr val="FFFFFF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438" name="Google Shape;438;p12">
            <a:extLst xmlns:a="http://schemas.openxmlformats.org/drawingml/2006/main">
              <a:ext uri="{FF2B5EF4-FFF2-40B4-BE49-F238E27FC236}">
                <a16:creationId xmlns:a16="http://schemas.microsoft.com/office/drawing/2014/main" id="{FBBD3061-4C25-4D61-A6B7-8A6183CA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5" y="2722400"/>
            <a:ext cx="2552700" cy="1428900"/>
          </a:xfrm>
          <a:prstGeom xmlns:a="http://schemas.openxmlformats.org/drawingml/2006/main" prst="roundRect">
            <a:avLst>
              <a:gd name="adj" fmla="val 2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">
            <a:extLst xmlns:a="http://schemas.openxmlformats.org/drawingml/2006/main">
              <a:ext uri="{FF2B5EF4-FFF2-40B4-BE49-F238E27FC236}">
                <a16:creationId xmlns:a16="http://schemas.microsoft.com/office/drawing/2014/main" id="{F60D9C8F-DD03-4F62-B9BD-E3AB90DA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5" y="2722400"/>
            <a:ext cx="57300" cy="14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">
            <a:extLst xmlns:a="http://schemas.openxmlformats.org/drawingml/2006/main">
              <a:ext uri="{FF2B5EF4-FFF2-40B4-BE49-F238E27FC236}">
                <a16:creationId xmlns:a16="http://schemas.microsoft.com/office/drawing/2014/main" id="{B116F391-AA75-4E01-94C3-9520A7A8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75" y="2865275"/>
            <a:ext cx="2286000" cy="2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Semantic traversal</a:t>
            </a:r>
            <a:endParaRPr sz="1200" b="1">
              <a:solidFill>
                <a:srgbClr val="151515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441" name="Google Shape;441;p12">
            <a:extLst xmlns:a="http://schemas.openxmlformats.org/drawingml/2006/main">
              <a:ext uri="{FF2B5EF4-FFF2-40B4-BE49-F238E27FC236}">
                <a16:creationId xmlns:a16="http://schemas.microsoft.com/office/drawing/2014/main" id="{60AE886F-A9F5-4116-8EE2-C46D3C8F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75" y="3246275"/>
            <a:ext cx="2190900" cy="70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sz="9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Loads generated OSCAL models and follows only dependency fields defined by each document type.</a:t>
            </a:r>
            <a:endParaRPr sz="950" b="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2" name="Google Shape;442;p12">
            <a:extLst xmlns:a="http://schemas.openxmlformats.org/drawingml/2006/main">
              <a:ext uri="{FF2B5EF4-FFF2-40B4-BE49-F238E27FC236}">
                <a16:creationId xmlns:a16="http://schemas.microsoft.com/office/drawing/2014/main" id="{A69D6042-0080-4138-B5AA-7B23EE7F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247" y="2722400"/>
            <a:ext cx="2552700" cy="1428900"/>
          </a:xfrm>
          <a:prstGeom xmlns:a="http://schemas.openxmlformats.org/drawingml/2006/main" prst="roundRect">
            <a:avLst>
              <a:gd name="adj" fmla="val 2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2">
            <a:extLst xmlns:a="http://schemas.openxmlformats.org/drawingml/2006/main">
              <a:ext uri="{FF2B5EF4-FFF2-40B4-BE49-F238E27FC236}">
                <a16:creationId xmlns:a16="http://schemas.microsoft.com/office/drawing/2014/main" id="{965EBF67-DDAF-45EF-AA35-B3B7559E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247" y="2722400"/>
            <a:ext cx="57300" cy="14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2">
            <a:extLst xmlns:a="http://schemas.openxmlformats.org/drawingml/2006/main">
              <a:ext uri="{FF2B5EF4-FFF2-40B4-BE49-F238E27FC236}">
                <a16:creationId xmlns:a16="http://schemas.microsoft.com/office/drawing/2014/main" id="{F9387296-173C-487B-893C-7B94A0B0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600" y="2865275"/>
            <a:ext cx="2286000" cy="2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Handles graph complexity</a:t>
            </a:r>
            <a:endParaRPr sz="1200" b="1">
              <a:solidFill>
                <a:srgbClr val="151515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445" name="Google Shape;445;p12">
            <a:extLst xmlns:a="http://schemas.openxmlformats.org/drawingml/2006/main">
              <a:ext uri="{FF2B5EF4-FFF2-40B4-BE49-F238E27FC236}">
                <a16:creationId xmlns:a16="http://schemas.microsoft.com/office/drawing/2014/main" id="{D368CA1F-B2DB-4808-B23C-C21A4598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600" y="3246275"/>
            <a:ext cx="2190900" cy="70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sz="9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Resolves paths from each source, deduplicates shared dependencies, rejects cycles, and preserves stable order.</a:t>
            </a:r>
            <a:endParaRPr sz="950" b="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6" name="Google Shape;446;p12">
            <a:extLst xmlns:a="http://schemas.openxmlformats.org/drawingml/2006/main">
              <a:ext uri="{FF2B5EF4-FFF2-40B4-BE49-F238E27FC236}">
                <a16:creationId xmlns:a16="http://schemas.microsoft.com/office/drawing/2014/main" id="{1B2C03C3-491F-436E-A1B3-32746138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977" y="2722400"/>
            <a:ext cx="2552700" cy="1428900"/>
          </a:xfrm>
          <a:prstGeom xmlns:a="http://schemas.openxmlformats.org/drawingml/2006/main" prst="roundRect">
            <a:avLst>
              <a:gd name="adj" fmla="val 2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2">
            <a:extLst xmlns:a="http://schemas.openxmlformats.org/drawingml/2006/main">
              <a:ext uri="{FF2B5EF4-FFF2-40B4-BE49-F238E27FC236}">
                <a16:creationId xmlns:a16="http://schemas.microsoft.com/office/drawing/2014/main" id="{1D6C8A16-5354-491D-97D7-BEA36106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977" y="2722400"/>
            <a:ext cx="57300" cy="14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6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">
            <a:extLst xmlns:a="http://schemas.openxmlformats.org/drawingml/2006/main">
              <a:ext uri="{FF2B5EF4-FFF2-40B4-BE49-F238E27FC236}">
                <a16:creationId xmlns:a16="http://schemas.microsoft.com/office/drawing/2014/main" id="{99765393-C5CA-4BB4-BA15-54DE9B25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225" y="2865275"/>
            <a:ext cx="2286000" cy="2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Keeps approval explicit</a:t>
            </a:r>
            <a:endParaRPr sz="1200" b="1">
              <a:solidFill>
                <a:srgbClr val="151515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449" name="Google Shape;449;p12">
            <a:extLst xmlns:a="http://schemas.openxmlformats.org/drawingml/2006/main">
              <a:ext uri="{FF2B5EF4-FFF2-40B4-BE49-F238E27FC236}">
                <a16:creationId xmlns:a16="http://schemas.microsoft.com/office/drawing/2014/main" id="{C5D76D7D-F51E-4D63-A53B-C3F389E5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225" y="3246275"/>
            <a:ext cx="2190900" cy="62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sz="9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Writes package-relative identities; teams inspect the JSON and use --include for content that cannot be inferred.</a:t>
            </a:r>
            <a:endParaRPr sz="950" b="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0" name="Google Shape;450;p12">
            <a:extLst xmlns:a="http://schemas.openxmlformats.org/drawingml/2006/main">
              <a:ext uri="{FF2B5EF4-FFF2-40B4-BE49-F238E27FC236}">
                <a16:creationId xmlns:a16="http://schemas.microsoft.com/office/drawing/2014/main" id="{61843910-BF8E-4D3C-91D8-D1E1F0F382A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166063" y="4786883"/>
            <a:ext cx="2478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  <p:sp>
        <p:nvSpPr>
          <p:cNvPr id="452" name="Google Shape;452;p12">
            <a:extLst xmlns:a="http://schemas.openxmlformats.org/drawingml/2006/main">
              <a:ext uri="{FF2B5EF4-FFF2-40B4-BE49-F238E27FC236}">
                <a16:creationId xmlns:a16="http://schemas.microsoft.com/office/drawing/2014/main" id="{B3E5A049-7529-4678-BB26-76A3B3EE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5550" y="1858638"/>
            <a:ext cx="4647291" cy="51281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E1E2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2">
            <a:extLst xmlns:a="http://schemas.openxmlformats.org/drawingml/2006/main">
              <a:ext uri="{FF2B5EF4-FFF2-40B4-BE49-F238E27FC236}">
                <a16:creationId xmlns:a16="http://schemas.microsoft.com/office/drawing/2014/main" id="{CD7B68D0-B320-4F17-86EA-F5FD672F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18610" y="1925506"/>
            <a:ext cx="93063" cy="891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5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2">
            <a:extLst xmlns:a="http://schemas.openxmlformats.org/drawingml/2006/main">
              <a:ext uri="{FF2B5EF4-FFF2-40B4-BE49-F238E27FC236}">
                <a16:creationId xmlns:a16="http://schemas.microsoft.com/office/drawing/2014/main" id="{D5705651-7772-4B79-AC69-C20429CF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58205" y="1925506"/>
            <a:ext cx="93063" cy="891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2">
            <a:extLst xmlns:a="http://schemas.openxmlformats.org/drawingml/2006/main">
              <a:ext uri="{FF2B5EF4-FFF2-40B4-BE49-F238E27FC236}">
                <a16:creationId xmlns:a16="http://schemas.microsoft.com/office/drawing/2014/main" id="{8A585E9C-CDFB-4DFC-9F71-6FD49FDB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97800" y="1925506"/>
            <a:ext cx="93063" cy="891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9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2">
            <a:extLst xmlns:a="http://schemas.openxmlformats.org/drawingml/2006/main">
              <a:ext uri="{FF2B5EF4-FFF2-40B4-BE49-F238E27FC236}">
                <a16:creationId xmlns:a16="http://schemas.microsoft.com/office/drawing/2014/main" id="{94089830-6B32-4441-AAC5-40B0B2B1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0243" y="2081525"/>
            <a:ext cx="4769665" cy="245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80">
                <a:solidFill>
                  <a:schemeClr val="lt1"/>
                </a:solidFill>
                <a:latin typeface="Courier New"/>
                <a:ea typeface="Courier New"/>
                <a:cs typeface="Courier New"/>
              </a:rPr>
              <a:t>trestle</a:t>
            </a:r>
            <a:r>
              <a:rPr sz="1080">
                <a:solidFill>
                  <a:srgbClr val="3E8635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80" b="1">
                <a:solidFill>
                  <a:srgbClr val="AE81FF"/>
                </a:solidFill>
                <a:latin typeface="Courier New"/>
                <a:ea typeface="Courier New"/>
                <a:cs typeface="Courier New"/>
              </a:rPr>
              <a:t>generate-manifest</a:t>
            </a:r>
            <a:r>
              <a:rPr sz="1080">
                <a:solidFill>
                  <a:srgbClr val="3E8635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8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-f</a:t>
            </a:r>
            <a:r>
              <a:rPr sz="1080">
                <a:solidFill>
                  <a:schemeClr val="lt1"/>
                </a:solidFill>
                <a:latin typeface="Courier New"/>
                <a:ea typeface="Courier New"/>
                <a:cs typeface="Courier New"/>
              </a:rPr>
              <a:t> ssp.json </a:t>
            </a:r>
            <a:r>
              <a:rPr sz="1080">
                <a:solidFill>
                  <a:srgbClr val="E6DB74"/>
                </a:solidFill>
                <a:latin typeface="Courier New"/>
                <a:ea typeface="Courier New"/>
                <a:cs typeface="Courier New"/>
              </a:rPr>
              <a:t>-o</a:t>
            </a:r>
            <a:r>
              <a:rPr sz="1080">
                <a:solidFill>
                  <a:schemeClr val="lt1"/>
                </a:solidFill>
                <a:latin typeface="Courier New"/>
                <a:ea typeface="Courier New"/>
                <a:cs typeface="Courier New"/>
              </a:rPr>
              <a:t> manifest.json</a:t>
            </a:r>
            <a:endParaRPr sz="1080">
              <a:solidFill>
                <a:schemeClr val="lt1"/>
              </a:solidFill>
              <a:latin typeface="Courier New"/>
              <a:ea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165185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2" name="Google Shape;462;p13">
            <a:extLst xmlns:a="http://schemas.openxmlformats.org/drawingml/2006/main">
              <a:ext uri="{FF2B5EF4-FFF2-40B4-BE49-F238E27FC236}">
                <a16:creationId xmlns:a16="http://schemas.microsoft.com/office/drawing/2014/main" id="{675F5392-4F16-4159-8239-B94D82E3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35" y="316610"/>
            <a:ext cx="8169600" cy="28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900"/>
              <a:buFont typeface="Play"/>
              <a:buNone/>
            </a:pPr>
            <a:r>
              <a:rPr sz="1900" b="1" i="0" u="none" cap="none">
                <a:solidFill>
                  <a:srgbClr val="151515"/>
                </a:solidFill>
                <a:latin typeface="Play"/>
                <a:ea typeface="Play"/>
                <a:cs typeface="Play"/>
              </a:rPr>
              <a:t>One workflow covers the top-level OSCAL JSON model family</a:t>
            </a:r>
            <a:endParaRPr sz="1100"/>
          </a:p>
        </p:txBody>
      </p:sp>
      <p:sp>
        <p:nvSpPr>
          <p:cNvPr id="463" name="Google Shape;463;p13">
            <a:extLst xmlns:a="http://schemas.openxmlformats.org/drawingml/2006/main">
              <a:ext uri="{FF2B5EF4-FFF2-40B4-BE49-F238E27FC236}">
                <a16:creationId xmlns:a16="http://schemas.microsoft.com/office/drawing/2014/main" id="{069DAA4F-3E39-4911-ABEC-5119DB70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64" y="697230"/>
            <a:ext cx="80322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rPr>
              <a:t>Package generation can begin from authoring, assessment, or remediation artifacts.</a:t>
            </a:r>
            <a:endParaRPr sz="1100"/>
          </a:p>
        </p:txBody>
      </p:sp>
      <p:pic>
        <p:nvPicPr>
          <p:cNvPr id="489" name="Google Shape;464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cab42aadbc4bd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58800" y="1467088"/>
            <a:ext cx="167640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65" name="Google Shape;465;p13">
            <a:extLst xmlns:a="http://schemas.openxmlformats.org/drawingml/2006/main">
              <a:ext uri="{FF2B5EF4-FFF2-40B4-BE49-F238E27FC236}">
                <a16:creationId xmlns:a16="http://schemas.microsoft.com/office/drawing/2014/main" id="{08F90CEF-676E-4C5A-9FA4-A32FC286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619078"/>
            <a:ext cx="1524000" cy="20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Catalog + profile</a:t>
            </a:r>
            <a:endParaRPr sz="900" b="1">
              <a:solidFill>
                <a:srgbClr val="FFFFFF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491" name="Google Shape;466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4831696dc649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578100" y="1467088"/>
            <a:ext cx="167640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67" name="Google Shape;467;p13">
            <a:extLst xmlns:a="http://schemas.openxmlformats.org/drawingml/2006/main">
              <a:ext uri="{FF2B5EF4-FFF2-40B4-BE49-F238E27FC236}">
                <a16:creationId xmlns:a16="http://schemas.microsoft.com/office/drawing/2014/main" id="{146FB9C9-DB7C-43E2-8695-2A1AB77B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300" y="1619078"/>
            <a:ext cx="1524000" cy="20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Component + SSP</a:t>
            </a:r>
            <a:endParaRPr sz="900" b="1">
              <a:solidFill>
                <a:srgbClr val="FFFFFF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493" name="Google Shape;46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8cb6a1d8ad495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97400" y="1467088"/>
            <a:ext cx="167640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69" name="Google Shape;469;p13">
            <a:extLst xmlns:a="http://schemas.openxmlformats.org/drawingml/2006/main">
              <a:ext uri="{FF2B5EF4-FFF2-40B4-BE49-F238E27FC236}">
                <a16:creationId xmlns:a16="http://schemas.microsoft.com/office/drawing/2014/main" id="{04AC2E07-4A72-43D1-9ACF-A9DB4BE8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1619078"/>
            <a:ext cx="1524000" cy="20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Assessment plan + results</a:t>
            </a:r>
            <a:endParaRPr sz="900" b="1">
              <a:solidFill>
                <a:srgbClr val="FFFFFF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495" name="Google Shape;470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977b5ff7054a3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16700" y="1467088"/>
            <a:ext cx="167640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1" name="Google Shape;471;p13">
            <a:extLst xmlns:a="http://schemas.openxmlformats.org/drawingml/2006/main">
              <a:ext uri="{FF2B5EF4-FFF2-40B4-BE49-F238E27FC236}">
                <a16:creationId xmlns:a16="http://schemas.microsoft.com/office/drawing/2014/main" id="{281F3ABF-4396-4018-B760-4A0E6848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1619078"/>
            <a:ext cx="1524000" cy="20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POA&amp;M + mapping collection</a:t>
            </a:r>
            <a:endParaRPr sz="900" b="1">
              <a:solidFill>
                <a:srgbClr val="FFFFFF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473" name="Google Shape;473;p13">
            <a:extLst xmlns:a="http://schemas.openxmlformats.org/drawingml/2006/main">
              <a:ext uri="{FF2B5EF4-FFF2-40B4-BE49-F238E27FC236}">
                <a16:creationId xmlns:a16="http://schemas.microsoft.com/office/drawing/2014/main" id="{AF19CEAB-8C33-431A-B619-6FAB3C6A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10450"/>
            <a:ext cx="2552700" cy="1386469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3">
            <a:extLst xmlns:a="http://schemas.openxmlformats.org/drawingml/2006/main">
              <a:ext uri="{FF2B5EF4-FFF2-40B4-BE49-F238E27FC236}">
                <a16:creationId xmlns:a16="http://schemas.microsoft.com/office/drawing/2014/main" id="{B8D563CD-E6E6-4641-84FE-4F86CE7B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610450"/>
            <a:ext cx="57300" cy="1386469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3">
            <a:extLst xmlns:a="http://schemas.openxmlformats.org/drawingml/2006/main">
              <a:ext uri="{FF2B5EF4-FFF2-40B4-BE49-F238E27FC236}">
                <a16:creationId xmlns:a16="http://schemas.microsoft.com/office/drawing/2014/main" id="{E3A448E3-0E61-433D-8B0D-F725C14E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2709491"/>
            <a:ext cx="2190900" cy="1188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Model-aware discovery</a:t>
            </a:r>
            <a:endParaRPr sz="1300" b="1">
              <a:solidFill>
                <a:srgbClr val="151515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0" lv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4B5563"/>
                </a:solidFill>
                <a:latin typeface="Play"/>
                <a:ea typeface="Play"/>
                <a:cs typeface="Play"/>
              </a:rPr>
              <a:t>Trestle validates each artifact and follows the relationships defined for that model</a:t>
            </a:r>
            <a:r>
              <a:rPr sz="950">
                <a:solidFill>
                  <a:srgbClr val="4B5563"/>
                </a:solidFill>
                <a:latin typeface="Play"/>
                <a:ea typeface="Play"/>
                <a:cs typeface="Play"/>
              </a:rPr>
              <a:t>, then stops at catalogs because this workflow follows no further dependencies from them.</a:t>
            </a:r>
            <a:endParaRPr sz="950" b="0">
              <a:solidFill>
                <a:srgbClr val="4B5563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476" name="Google Shape;476;p13">
            <a:extLst xmlns:a="http://schemas.openxmlformats.org/drawingml/2006/main">
              <a:ext uri="{FF2B5EF4-FFF2-40B4-BE49-F238E27FC236}">
                <a16:creationId xmlns:a16="http://schemas.microsoft.com/office/drawing/2014/main" id="{93E5813A-B57E-4E30-8FD7-E77A5F6E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95650" y="2610450"/>
            <a:ext cx="2552700" cy="1386469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3">
            <a:extLst xmlns:a="http://schemas.openxmlformats.org/drawingml/2006/main">
              <a:ext uri="{FF2B5EF4-FFF2-40B4-BE49-F238E27FC236}">
                <a16:creationId xmlns:a16="http://schemas.microsoft.com/office/drawing/2014/main" id="{CD437742-B0E4-4A7E-9CA5-5A25F96A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95650" y="2610450"/>
            <a:ext cx="57300" cy="1386469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E86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3">
            <a:extLst xmlns:a="http://schemas.openxmlformats.org/drawingml/2006/main">
              <a:ext uri="{FF2B5EF4-FFF2-40B4-BE49-F238E27FC236}">
                <a16:creationId xmlns:a16="http://schemas.microsoft.com/office/drawing/2014/main" id="{3D7CE3EB-5F11-4B57-855D-758E4173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6150" y="2709491"/>
            <a:ext cx="2190900" cy="1188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Works with real repositories</a:t>
            </a:r>
            <a:endParaRPr sz="1300" b="1">
              <a:solidFill>
                <a:srgbClr val="151515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0" lv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4B5563"/>
                </a:solidFill>
                <a:latin typeface="Play"/>
                <a:ea typeface="Play"/>
                <a:cs typeface="Play"/>
              </a:rPr>
              <a:t>Local, trestle://, HTTPS, SFTP, and UUID back-matter references resolve through one graph.</a:t>
            </a:r>
            <a:endParaRPr sz="950" b="0">
              <a:solidFill>
                <a:srgbClr val="4B5563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479" name="Google Shape;479;p13">
            <a:extLst xmlns:a="http://schemas.openxmlformats.org/drawingml/2006/main">
              <a:ext uri="{FF2B5EF4-FFF2-40B4-BE49-F238E27FC236}">
                <a16:creationId xmlns:a16="http://schemas.microsoft.com/office/drawing/2014/main" id="{746F66FD-14E1-494B-A3AA-3B6A46D5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34100" y="2610450"/>
            <a:ext cx="2552700" cy="1386469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3">
            <a:extLst xmlns:a="http://schemas.openxmlformats.org/drawingml/2006/main">
              <a:ext uri="{FF2B5EF4-FFF2-40B4-BE49-F238E27FC236}">
                <a16:creationId xmlns:a16="http://schemas.microsoft.com/office/drawing/2014/main" id="{1D24C79F-5B84-417A-9EF9-CD6172E0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34100" y="2610450"/>
            <a:ext cx="57300" cy="1386469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0AB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3">
            <a:extLst xmlns:a="http://schemas.openxmlformats.org/drawingml/2006/main">
              <a:ext uri="{FF2B5EF4-FFF2-40B4-BE49-F238E27FC236}">
                <a16:creationId xmlns:a16="http://schemas.microsoft.com/office/drawing/2014/main" id="{441F1FEE-DE28-49E8-A9AB-8B0B0EAB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4600" y="2709491"/>
            <a:ext cx="2190900" cy="1188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Tested beyond toy JSON</a:t>
            </a:r>
            <a:endParaRPr sz="1300" b="1">
              <a:solidFill>
                <a:srgbClr val="151515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0" lv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4B5563"/>
                </a:solidFill>
                <a:latin typeface="Play"/>
                <a:ea typeface="Play"/>
                <a:cs typeface="Play"/>
              </a:rPr>
              <a:t>A real NIST SSP, profile, and catalog complete generate-sign-verify; model-specific tests cover every supported root.</a:t>
            </a:r>
            <a:endParaRPr sz="950" b="0">
              <a:solidFill>
                <a:srgbClr val="4B5563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482" name="Google Shape;482;p13">
            <a:extLst xmlns:a="http://schemas.openxmlformats.org/drawingml/2006/main">
              <a:ext uri="{FF2B5EF4-FFF2-40B4-BE49-F238E27FC236}">
                <a16:creationId xmlns:a16="http://schemas.microsoft.com/office/drawing/2014/main" id="{04C47281-3AFC-4E57-9D3E-72217B8A4E6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93103" y="4786883"/>
            <a:ext cx="1629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672419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8" name="Google Shape;488;p14">
            <a:extLst xmlns:a="http://schemas.openxmlformats.org/drawingml/2006/main">
              <a:ext uri="{FF2B5EF4-FFF2-40B4-BE49-F238E27FC236}">
                <a16:creationId xmlns:a16="http://schemas.microsoft.com/office/drawing/2014/main" id="{5297CE67-FE43-4AA2-BFAF-439CA9F4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35" y="316610"/>
            <a:ext cx="8169600" cy="28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900"/>
              <a:buFont typeface="Play"/>
              <a:buNone/>
            </a:pPr>
            <a:r>
              <a:rPr sz="1900" b="1" i="0" u="none" cap="none">
                <a:solidFill>
                  <a:srgbClr val="151515"/>
                </a:solidFill>
                <a:latin typeface="Play"/>
                <a:ea typeface="Play"/>
                <a:cs typeface="Play"/>
              </a:rPr>
              <a:t>Remote references become stable package evidence</a:t>
            </a:r>
            <a:endParaRPr sz="1100"/>
          </a:p>
        </p:txBody>
      </p:sp>
      <p:sp>
        <p:nvSpPr>
          <p:cNvPr id="489" name="Google Shape;489;p14">
            <a:extLst xmlns:a="http://schemas.openxmlformats.org/drawingml/2006/main">
              <a:ext uri="{FF2B5EF4-FFF2-40B4-BE49-F238E27FC236}">
                <a16:creationId xmlns:a16="http://schemas.microsoft.com/office/drawing/2014/main" id="{E8B71440-29D5-494F-8CEF-8D604664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64" y="697230"/>
            <a:ext cx="80322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800"/>
              <a:buFont typeface="Arial"/>
              <a:buNone/>
            </a:pPr>
            <a:r>
              <a:rPr sz="800">
                <a:solidFill>
                  <a:srgbClr val="6A6E73"/>
                </a:solidFill>
              </a:rPr>
              <a:t>Remote dependencies become stable, inspectable package artifacts.</a:t>
            </a:r>
            <a:endParaRPr sz="1100"/>
          </a:p>
        </p:txBody>
      </p:sp>
      <p:sp>
        <p:nvSpPr>
          <p:cNvPr id="491" name="Google Shape;491;p14">
            <a:extLst xmlns:a="http://schemas.openxmlformats.org/drawingml/2006/main">
              <a:ext uri="{FF2B5EF4-FFF2-40B4-BE49-F238E27FC236}">
                <a16:creationId xmlns:a16="http://schemas.microsoft.com/office/drawing/2014/main" id="{C4BFF1A0-2219-4B63-8FC7-4C3C748D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770" y="1143000"/>
            <a:ext cx="3048000" cy="31434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4">
            <a:extLst xmlns:a="http://schemas.openxmlformats.org/drawingml/2006/main">
              <a:ext uri="{FF2B5EF4-FFF2-40B4-BE49-F238E27FC236}">
                <a16:creationId xmlns:a16="http://schemas.microsoft.com/office/drawing/2014/main" id="{5F44B210-66B2-4776-8D80-212EEAC3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770" y="1143000"/>
            <a:ext cx="3048000" cy="285900"/>
          </a:xfrm>
          <a:prstGeom xmlns:a="http://schemas.openxmlformats.org/drawingml/2006/main" prst="roundRect">
            <a:avLst>
              <a:gd name="adj" fmla="val 26666"/>
            </a:avLst>
          </a:prstGeom>
          <a:solidFill xmlns:a="http://schemas.openxmlformats.org/drawingml/2006/main">
            <a:srgbClr val="2D2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4">
            <a:extLst xmlns:a="http://schemas.openxmlformats.org/drawingml/2006/main">
              <a:ext uri="{FF2B5EF4-FFF2-40B4-BE49-F238E27FC236}">
                <a16:creationId xmlns:a16="http://schemas.microsoft.com/office/drawing/2014/main" id="{26D42466-5713-4308-898B-4A65AAB9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770" y="1285875"/>
            <a:ext cx="3048000" cy="14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D2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4">
            <a:extLst xmlns:a="http://schemas.openxmlformats.org/drawingml/2006/main">
              <a:ext uri="{FF2B5EF4-FFF2-40B4-BE49-F238E27FC236}">
                <a16:creationId xmlns:a16="http://schemas.microsoft.com/office/drawing/2014/main" id="{17943C06-7BEB-4B77-8211-7B26F5EF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2925" y="1238250"/>
            <a:ext cx="95400" cy="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5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4">
            <a:extLst xmlns:a="http://schemas.openxmlformats.org/drawingml/2006/main">
              <a:ext uri="{FF2B5EF4-FFF2-40B4-BE49-F238E27FC236}">
                <a16:creationId xmlns:a16="http://schemas.microsoft.com/office/drawing/2014/main" id="{5BBF6736-2FA4-41E7-8681-F736207B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325" y="1238250"/>
            <a:ext cx="95400" cy="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4">
            <a:extLst xmlns:a="http://schemas.openxmlformats.org/drawingml/2006/main">
              <a:ext uri="{FF2B5EF4-FFF2-40B4-BE49-F238E27FC236}">
                <a16:creationId xmlns:a16="http://schemas.microsoft.com/office/drawing/2014/main" id="{A5D27D50-73E3-4A84-8316-F91527B7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7725" y="1238250"/>
            <a:ext cx="95400" cy="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9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4">
            <a:extLst xmlns:a="http://schemas.openxmlformats.org/drawingml/2006/main">
              <a:ext uri="{FF2B5EF4-FFF2-40B4-BE49-F238E27FC236}">
                <a16:creationId xmlns:a16="http://schemas.microsoft.com/office/drawing/2014/main" id="{212C4FBB-C845-4883-B633-41C8BC94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" y="1524000"/>
            <a:ext cx="2714700" cy="25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69CD6"/>
                </a:solidFill>
                <a:latin typeface="Courier New"/>
                <a:ea typeface="Courier New"/>
                <a:cs typeface="Courier New"/>
              </a:rPr>
              <a:t>package/</a:t>
            </a:r>
            <a:endParaRPr sz="1000" b="1">
              <a:solidFill>
                <a:srgbClr val="569CD6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45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CDCFE"/>
                </a:solidFill>
                <a:latin typeface="Courier New"/>
                <a:ea typeface="Courier New"/>
                <a:cs typeface="Courier New"/>
              </a:rPr>
              <a:t>├── manifest.json</a:t>
            </a:r>
            <a:endParaRPr sz="1000">
              <a:solidFill>
                <a:srgbClr val="9CDCFE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45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CDCFE"/>
                </a:solidFill>
                <a:latin typeface="Courier New"/>
                <a:ea typeface="Courier New"/>
                <a:cs typeface="Courier New"/>
              </a:rPr>
              <a:t>├── ssp.json</a:t>
            </a:r>
            <a:endParaRPr sz="1000">
              <a:solidFill>
                <a:srgbClr val="9CDCFE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45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69CD6"/>
                </a:solidFill>
                <a:latin typeface="Courier New"/>
                <a:ea typeface="Courier New"/>
                <a:cs typeface="Courier New"/>
              </a:rPr>
              <a:t>├── profiles/</a:t>
            </a:r>
            <a:endParaRPr sz="1000" b="1">
              <a:solidFill>
                <a:srgbClr val="569CD6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450"/>
              </a:spcBef>
              <a:spcAft>
                <a:spcPts val="0"/>
              </a:spcAft>
              <a:buNone/>
            </a:pPr>
            <a:r>
              <a:rPr sz="1000">
                <a:solidFill>
                  <a:srgbClr val="9CDCFE"/>
                </a:solidFill>
                <a:latin typeface="Courier New"/>
                <a:ea typeface="Courier New"/>
                <a:cs typeface="Courier New"/>
              </a:rPr>
              <a:t>│ └── profile.json</a:t>
            </a:r>
            <a:endParaRPr sz="1000">
              <a:solidFill>
                <a:srgbClr val="9CDCFE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45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569CD6"/>
                </a:solidFill>
                <a:latin typeface="Courier New"/>
                <a:ea typeface="Courier New"/>
                <a:cs typeface="Courier New"/>
              </a:rPr>
              <a:t>└── remote/</a:t>
            </a:r>
            <a:endParaRPr sz="1000" b="1">
              <a:solidFill>
                <a:srgbClr val="569CD6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45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CE9178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</a:rPr>
              <a:t>└── </a:t>
            </a:r>
            <a:r>
              <a:rPr sz="1000" b="1">
                <a:solidFill>
                  <a:srgbClr val="CE9178"/>
                </a:solidFill>
                <a:highlight>
                  <a:srgbClr val="2D2D2D"/>
                </a:highlight>
                <a:latin typeface="Courier New"/>
                <a:ea typeface="Courier New"/>
                <a:cs typeface="Courier New"/>
              </a:rPr>
              <a:t>&lt;sha256(uri)&gt;.json</a:t>
            </a:r>
            <a:endParaRPr sz="1000" b="1">
              <a:solidFill>
                <a:srgbClr val="CE9178"/>
              </a:solidFill>
              <a:highlight>
                <a:srgbClr val="2D2D2D"/>
              </a:highlight>
              <a:latin typeface="Courier New"/>
              <a:ea typeface="Courier New"/>
              <a:cs typeface="Courier New"/>
            </a:endParaRPr>
          </a:p>
        </p:txBody>
      </p:sp>
      <p:sp>
        <p:nvSpPr>
          <p:cNvPr id="499" name="Google Shape;499;p14">
            <a:extLst xmlns:a="http://schemas.openxmlformats.org/drawingml/2006/main">
              <a:ext uri="{FF2B5EF4-FFF2-40B4-BE49-F238E27FC236}">
                <a16:creationId xmlns:a16="http://schemas.microsoft.com/office/drawing/2014/main" id="{B48BBB40-E4F2-4C9B-83BC-A6A351A7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9125" y="1551433"/>
            <a:ext cx="2381400" cy="1075632"/>
          </a:xfrm>
          <a:prstGeom xmlns:a="http://schemas.openxmlformats.org/drawingml/2006/main" prst="roundRect">
            <a:avLst>
              <a:gd name="adj" fmla="val 3870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4">
            <a:extLst xmlns:a="http://schemas.openxmlformats.org/drawingml/2006/main">
              <a:ext uri="{FF2B5EF4-FFF2-40B4-BE49-F238E27FC236}">
                <a16:creationId xmlns:a16="http://schemas.microsoft.com/office/drawing/2014/main" id="{86FFC3F4-AF4C-436D-BE7E-17C8BF17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9125" y="1551433"/>
            <a:ext cx="47700" cy="1075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4">
            <a:extLst xmlns:a="http://schemas.openxmlformats.org/drawingml/2006/main">
              <a:ext uri="{FF2B5EF4-FFF2-40B4-BE49-F238E27FC236}">
                <a16:creationId xmlns:a16="http://schemas.microsoft.com/office/drawing/2014/main" id="{F3264485-000C-4CD0-AB62-8BC3FF0B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99625" y="1620832"/>
            <a:ext cx="2095500" cy="936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Controlled acquisition</a:t>
            </a:r>
            <a:endParaRPr sz="11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850">
                <a:solidFill>
                  <a:srgbClr val="4B5563"/>
                </a:solidFill>
              </a:rPr>
              <a:t>HTTPS and SFTP dependencies are downloaded through Trestle fetchers, canonicalized, validated as OSCAL, and saved inside the package.</a:t>
            </a:r>
            <a:endParaRPr sz="85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2" name="Google Shape;502;p14">
            <a:extLst xmlns:a="http://schemas.openxmlformats.org/drawingml/2006/main">
              <a:ext uri="{FF2B5EF4-FFF2-40B4-BE49-F238E27FC236}">
                <a16:creationId xmlns:a16="http://schemas.microsoft.com/office/drawing/2014/main" id="{B547FD33-1845-406C-96D4-F1F17919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8500" y="1551433"/>
            <a:ext cx="2381400" cy="1075632"/>
          </a:xfrm>
          <a:prstGeom xmlns:a="http://schemas.openxmlformats.org/drawingml/2006/main" prst="roundRect">
            <a:avLst>
              <a:gd name="adj" fmla="val 3870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4">
            <a:extLst xmlns:a="http://schemas.openxmlformats.org/drawingml/2006/main">
              <a:ext uri="{FF2B5EF4-FFF2-40B4-BE49-F238E27FC236}">
                <a16:creationId xmlns:a16="http://schemas.microsoft.com/office/drawing/2014/main" id="{0DF8B107-2717-41A6-84F8-8894DC53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8500" y="1551433"/>
            <a:ext cx="47700" cy="1075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3A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4">
            <a:extLst xmlns:a="http://schemas.openxmlformats.org/drawingml/2006/main">
              <a:ext uri="{FF2B5EF4-FFF2-40B4-BE49-F238E27FC236}">
                <a16:creationId xmlns:a16="http://schemas.microsoft.com/office/drawing/2014/main" id="{F5F41BAB-2E69-48C4-80AC-4051F8F9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19000" y="1620832"/>
            <a:ext cx="2095500" cy="936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Safer defaults</a:t>
            </a:r>
            <a:endParaRPr sz="11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850">
                <a:solidFill>
                  <a:srgbClr val="4B5563"/>
                </a:solidFill>
              </a:rPr>
              <a:t>Direct loopback, link-local, metadata, redirects, and private-network targets are rejected by default; trusted private access requires explicit opt-in.</a:t>
            </a:r>
            <a:endParaRPr sz="85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5" name="Google Shape;505;p14">
            <a:extLst xmlns:a="http://schemas.openxmlformats.org/drawingml/2006/main">
              <a:ext uri="{FF2B5EF4-FFF2-40B4-BE49-F238E27FC236}">
                <a16:creationId xmlns:a16="http://schemas.microsoft.com/office/drawing/2014/main" id="{6EC7D120-45B6-49EE-B716-50AA202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9125" y="2765918"/>
            <a:ext cx="2381400" cy="1075632"/>
          </a:xfrm>
          <a:prstGeom xmlns:a="http://schemas.openxmlformats.org/drawingml/2006/main" prst="roundRect">
            <a:avLst>
              <a:gd name="adj" fmla="val 3870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4">
            <a:extLst xmlns:a="http://schemas.openxmlformats.org/drawingml/2006/main">
              <a:ext uri="{FF2B5EF4-FFF2-40B4-BE49-F238E27FC236}">
                <a16:creationId xmlns:a16="http://schemas.microsoft.com/office/drawing/2014/main" id="{0DA6C13E-F1D7-48F1-8FE7-BCCE0699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9125" y="2765918"/>
            <a:ext cx="47700" cy="1075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4">
            <a:extLst xmlns:a="http://schemas.openxmlformats.org/drawingml/2006/main">
              <a:ext uri="{FF2B5EF4-FFF2-40B4-BE49-F238E27FC236}">
                <a16:creationId xmlns:a16="http://schemas.microsoft.com/office/drawing/2014/main" id="{69049CE7-7E44-4628-BD5B-D80EC9F4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99625" y="2835317"/>
            <a:ext cx="2095500" cy="936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Bounded work</a:t>
            </a:r>
            <a:endParaRPr sz="11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850">
                <a:solidFill>
                  <a:srgbClr val="4B5563"/>
                </a:solidFill>
                <a:latin typeface="Arial"/>
                <a:ea typeface="Arial"/>
                <a:cs typeface="Arial"/>
              </a:rPr>
              <a:t>Limits graph depth, artifact count, each download, and total remote bytes.</a:t>
            </a:r>
            <a:endParaRPr sz="85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8" name="Google Shape;508;p14">
            <a:extLst xmlns:a="http://schemas.openxmlformats.org/drawingml/2006/main">
              <a:ext uri="{FF2B5EF4-FFF2-40B4-BE49-F238E27FC236}">
                <a16:creationId xmlns:a16="http://schemas.microsoft.com/office/drawing/2014/main" id="{18A15E28-8C05-4DF1-9A3B-4D1FF617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8500" y="2765918"/>
            <a:ext cx="2381400" cy="1075632"/>
          </a:xfrm>
          <a:prstGeom xmlns:a="http://schemas.openxmlformats.org/drawingml/2006/main" prst="roundRect">
            <a:avLst>
              <a:gd name="adj" fmla="val 3870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 cmpd="sng">
            <a:solidFill>
              <a:srgbClr val="E5E7E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4">
            <a:extLst xmlns:a="http://schemas.openxmlformats.org/drawingml/2006/main">
              <a:ext uri="{FF2B5EF4-FFF2-40B4-BE49-F238E27FC236}">
                <a16:creationId xmlns:a16="http://schemas.microsoft.com/office/drawing/2014/main" id="{34F43116-5A63-4427-AF9D-21EE15AA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8500" y="2765918"/>
            <a:ext cx="47700" cy="1075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6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4">
            <a:extLst xmlns:a="http://schemas.openxmlformats.org/drawingml/2006/main">
              <a:ext uri="{FF2B5EF4-FFF2-40B4-BE49-F238E27FC236}">
                <a16:creationId xmlns:a16="http://schemas.microsoft.com/office/drawing/2014/main" id="{79542E14-6D22-4815-A26C-9A9AA777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19000" y="2835317"/>
            <a:ext cx="2095500" cy="936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Repeatable evidence</a:t>
            </a:r>
            <a:endParaRPr sz="11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850">
                <a:solidFill>
                  <a:srgbClr val="4B5563"/>
                </a:solidFill>
                <a:latin typeface="Arial"/>
                <a:ea typeface="Arial"/>
                <a:cs typeface="Arial"/>
              </a:rPr>
              <a:t>URI-derived names avoid collisions; traversal, symlinks, and silent replacement are rejected.</a:t>
            </a:r>
            <a:endParaRPr sz="85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1" name="Google Shape;511;p14">
            <a:extLst xmlns:a="http://schemas.openxmlformats.org/drawingml/2006/main">
              <a:ext uri="{FF2B5EF4-FFF2-40B4-BE49-F238E27FC236}">
                <a16:creationId xmlns:a16="http://schemas.microsoft.com/office/drawing/2014/main" id="{33D0A43E-06AB-4A34-9EDA-9201C69D305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166063" y="4786883"/>
            <a:ext cx="2478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316738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7" name="Google Shape;517;p15">
            <a:extLst xmlns:a="http://schemas.openxmlformats.org/drawingml/2006/main">
              <a:ext uri="{FF2B5EF4-FFF2-40B4-BE49-F238E27FC236}">
                <a16:creationId xmlns:a16="http://schemas.microsoft.com/office/drawing/2014/main" id="{CC26E382-E389-4EA6-B0A6-2D4959FA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35" y="316610"/>
            <a:ext cx="8169600" cy="28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900"/>
              <a:buFont typeface="Play"/>
              <a:buNone/>
            </a:pPr>
            <a:r>
              <a:rPr sz="1900" b="1" i="0" u="none" cap="none">
                <a:solidFill>
                  <a:srgbClr val="151515"/>
                </a:solidFill>
                <a:latin typeface="Play"/>
                <a:ea typeface="Play"/>
                <a:cs typeface="Play"/>
              </a:rPr>
              <a:t>Teams review the package before they approve it</a:t>
            </a:r>
            <a:endParaRPr sz="1100"/>
          </a:p>
        </p:txBody>
      </p:sp>
      <p:sp>
        <p:nvSpPr>
          <p:cNvPr id="518" name="Google Shape;518;p15">
            <a:extLst xmlns:a="http://schemas.openxmlformats.org/drawingml/2006/main">
              <a:ext uri="{FF2B5EF4-FFF2-40B4-BE49-F238E27FC236}">
                <a16:creationId xmlns:a16="http://schemas.microsoft.com/office/drawing/2014/main" id="{87B1BC6E-7197-4091-973B-1DCA56D6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64" y="697230"/>
            <a:ext cx="80322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rPr>
              <a:t>Discovery is automated, but signing remains an explicit decision.</a:t>
            </a:r>
            <a:endParaRPr sz="1100"/>
          </a:p>
        </p:txBody>
      </p:sp>
      <p:sp>
        <p:nvSpPr>
          <p:cNvPr id="519" name="Google Shape;519;p15">
            <a:extLst xmlns:a="http://schemas.openxmlformats.org/drawingml/2006/main">
              <a:ext uri="{FF2B5EF4-FFF2-40B4-BE49-F238E27FC236}">
                <a16:creationId xmlns:a16="http://schemas.microsoft.com/office/drawing/2014/main" id="{DCD359C3-8AB3-4BDB-8CE8-B9B90ABD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13" y="1285943"/>
            <a:ext cx="1476000" cy="493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0" name="Google Shape;520;p15">
            <a:extLst xmlns:a="http://schemas.openxmlformats.org/drawingml/2006/main">
              <a:ext uri="{FF2B5EF4-FFF2-40B4-BE49-F238E27FC236}">
                <a16:creationId xmlns:a16="http://schemas.microsoft.com/office/drawing/2014/main" id="{C6E91A2F-6C74-49AD-8DD6-04C67722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63" y="1436819"/>
            <a:ext cx="13386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Root OSCAL </a:t>
            </a:r>
            <a:r>
              <a:rPr sz="900" b="1">
                <a:solidFill>
                  <a:srgbClr val="FFFFFF"/>
                </a:solidFill>
              </a:rPr>
              <a:t>document</a:t>
            </a:r>
            <a:endParaRPr sz="1100"/>
          </a:p>
        </p:txBody>
      </p:sp>
      <p:sp>
        <p:nvSpPr>
          <p:cNvPr id="521" name="Google Shape;521;p15">
            <a:extLst xmlns:a="http://schemas.openxmlformats.org/drawingml/2006/main">
              <a:ext uri="{FF2B5EF4-FFF2-40B4-BE49-F238E27FC236}">
                <a16:creationId xmlns:a16="http://schemas.microsoft.com/office/drawing/2014/main" id="{3E367FC6-8440-4EE4-9A09-519DD84C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542" y="1450535"/>
            <a:ext cx="1098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2" name="Google Shape;522;p15">
            <a:extLst xmlns:a="http://schemas.openxmlformats.org/drawingml/2006/main">
              <a:ext uri="{FF2B5EF4-FFF2-40B4-BE49-F238E27FC236}">
                <a16:creationId xmlns:a16="http://schemas.microsoft.com/office/drawing/2014/main" id="{E2410D65-31BE-4F11-92B1-FFB99FDA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305" y="1285943"/>
            <a:ext cx="1476000" cy="493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 cmpd="sng">
            <a:solidFill>
              <a:srgbClr val="0066C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3" name="Google Shape;523;p15">
            <a:extLst xmlns:a="http://schemas.openxmlformats.org/drawingml/2006/main">
              <a:ext uri="{FF2B5EF4-FFF2-40B4-BE49-F238E27FC236}">
                <a16:creationId xmlns:a16="http://schemas.microsoft.com/office/drawing/2014/main" id="{FD38FD89-9ACA-48C3-A0FE-596FD017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956" y="1436819"/>
            <a:ext cx="13386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generate-manifest</a:t>
            </a:r>
            <a:endParaRPr sz="1100"/>
          </a:p>
        </p:txBody>
      </p:sp>
      <p:sp>
        <p:nvSpPr>
          <p:cNvPr id="524" name="Google Shape;524;p15">
            <a:extLst xmlns:a="http://schemas.openxmlformats.org/drawingml/2006/main">
              <a:ext uri="{FF2B5EF4-FFF2-40B4-BE49-F238E27FC236}">
                <a16:creationId xmlns:a16="http://schemas.microsoft.com/office/drawing/2014/main" id="{403F9F5F-9018-4944-9703-41089790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234" y="1450535"/>
            <a:ext cx="1098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5" name="Google Shape;525;p15">
            <a:extLst xmlns:a="http://schemas.openxmlformats.org/drawingml/2006/main">
              <a:ext uri="{FF2B5EF4-FFF2-40B4-BE49-F238E27FC236}">
                <a16:creationId xmlns:a16="http://schemas.microsoft.com/office/drawing/2014/main" id="{377FB22D-7E0F-4034-B355-06FD93F3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998" y="1285943"/>
            <a:ext cx="1476000" cy="493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6753AC"/>
          </a:solidFill>
          <a:ln xmlns:a="http://schemas.openxmlformats.org/drawingml/2006/main" w="12700" cmpd="sng">
            <a:solidFill>
              <a:srgbClr val="6753A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6" name="Google Shape;526;p15">
            <a:extLst xmlns:a="http://schemas.openxmlformats.org/drawingml/2006/main">
              <a:ext uri="{FF2B5EF4-FFF2-40B4-BE49-F238E27FC236}">
                <a16:creationId xmlns:a16="http://schemas.microsoft.com/office/drawing/2014/main" id="{B88DF028-3164-4701-8945-42959985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648" y="1436819"/>
            <a:ext cx="13386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package</a:t>
            </a:r>
            <a:endParaRPr sz="1100"/>
          </a:p>
        </p:txBody>
      </p:sp>
      <p:sp>
        <p:nvSpPr>
          <p:cNvPr id="527" name="Google Shape;527;p15">
            <a:extLst xmlns:a="http://schemas.openxmlformats.org/drawingml/2006/main">
              <a:ext uri="{FF2B5EF4-FFF2-40B4-BE49-F238E27FC236}">
                <a16:creationId xmlns:a16="http://schemas.microsoft.com/office/drawing/2014/main" id="{8C4C62C8-EF82-45E1-AAC8-1CDE2673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926" y="1450535"/>
            <a:ext cx="1098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8" name="Google Shape;528;p15">
            <a:extLst xmlns:a="http://schemas.openxmlformats.org/drawingml/2006/main">
              <a:ext uri="{FF2B5EF4-FFF2-40B4-BE49-F238E27FC236}">
                <a16:creationId xmlns:a16="http://schemas.microsoft.com/office/drawing/2014/main" id="{3E06C9E0-4275-497A-BFBA-D0C9448E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688" y="1285943"/>
            <a:ext cx="1476000" cy="493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0AB00"/>
          </a:solidFill>
          <a:ln xmlns:a="http://schemas.openxmlformats.org/drawingml/2006/main" w="12700" cmpd="sng">
            <a:solidFill>
              <a:srgbClr val="F0AB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9" name="Google Shape;529;p15">
            <a:extLst xmlns:a="http://schemas.openxmlformats.org/drawingml/2006/main">
              <a:ext uri="{FF2B5EF4-FFF2-40B4-BE49-F238E27FC236}">
                <a16:creationId xmlns:a16="http://schemas.microsoft.com/office/drawing/2014/main" id="{42CEC4B3-3025-4DD8-8196-2C98825F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41" y="1436819"/>
            <a:ext cx="13386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sign-manifest</a:t>
            </a:r>
            <a:endParaRPr sz="1100"/>
          </a:p>
        </p:txBody>
      </p:sp>
      <p:sp>
        <p:nvSpPr>
          <p:cNvPr id="530" name="Google Shape;530;p15">
            <a:extLst xmlns:a="http://schemas.openxmlformats.org/drawingml/2006/main">
              <a:ext uri="{FF2B5EF4-FFF2-40B4-BE49-F238E27FC236}">
                <a16:creationId xmlns:a16="http://schemas.microsoft.com/office/drawing/2014/main" id="{333CDB30-549B-428C-B165-8FFED5F3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618" y="1450535"/>
            <a:ext cx="1098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1" name="Google Shape;531;p15">
            <a:extLst xmlns:a="http://schemas.openxmlformats.org/drawingml/2006/main">
              <a:ext uri="{FF2B5EF4-FFF2-40B4-BE49-F238E27FC236}">
                <a16:creationId xmlns:a16="http://schemas.microsoft.com/office/drawing/2014/main" id="{90870C17-6637-4535-9DE2-2C214103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382" y="1285943"/>
            <a:ext cx="1476000" cy="493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E0000"/>
          </a:solidFill>
          <a:ln xmlns:a="http://schemas.openxmlformats.org/drawingml/2006/main" w="12700" cmpd="sng">
            <a:solidFill>
              <a:srgbClr val="EE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2" name="Google Shape;532;p15">
            <a:extLst xmlns:a="http://schemas.openxmlformats.org/drawingml/2006/main">
              <a:ext uri="{FF2B5EF4-FFF2-40B4-BE49-F238E27FC236}">
                <a16:creationId xmlns:a16="http://schemas.microsoft.com/office/drawing/2014/main" id="{87972D0C-BC86-4A64-B39F-7DF67783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4034" y="1436819"/>
            <a:ext cx="13386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verify-manifest</a:t>
            </a:r>
            <a:endParaRPr sz="1100"/>
          </a:p>
        </p:txBody>
      </p:sp>
      <p:sp>
        <p:nvSpPr>
          <p:cNvPr id="534" name="Google Shape;534;p15">
            <a:extLst xmlns:a="http://schemas.openxmlformats.org/drawingml/2006/main">
              <a:ext uri="{FF2B5EF4-FFF2-40B4-BE49-F238E27FC236}">
                <a16:creationId xmlns:a16="http://schemas.microsoft.com/office/drawing/2014/main" id="{4C08EC49-D67C-49AE-8B1A-2EEAB8CD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1275" y="2473355"/>
            <a:ext cx="4000500" cy="1336929"/>
          </a:xfrm>
          <a:prstGeom xmlns:a="http://schemas.openxmlformats.org/drawingml/2006/main" prst="roundRect">
            <a:avLst>
              <a:gd name="adj" fmla="val 1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5">
            <a:extLst xmlns:a="http://schemas.openxmlformats.org/drawingml/2006/main">
              <a:ext uri="{FF2B5EF4-FFF2-40B4-BE49-F238E27FC236}">
                <a16:creationId xmlns:a16="http://schemas.microsoft.com/office/drawing/2014/main" id="{F3B10A0B-A250-4B0C-923B-0DADEB95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1275" y="2473355"/>
            <a:ext cx="54300" cy="13369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5">
            <a:extLst xmlns:a="http://schemas.openxmlformats.org/drawingml/2006/main">
              <a:ext uri="{FF2B5EF4-FFF2-40B4-BE49-F238E27FC236}">
                <a16:creationId xmlns:a16="http://schemas.microsoft.com/office/drawing/2014/main" id="{3C57F125-0960-49B2-856B-F97C23F8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3205" y="2564509"/>
            <a:ext cx="3619500" cy="1154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What verification proves</a:t>
            </a:r>
            <a:endParaRPr sz="11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lvl="0" indent="-288925" algn="l">
              <a:spcBef>
                <a:spcPts val="900"/>
              </a:spcBef>
              <a:spcAft>
                <a:spcPts val="0"/>
              </a:spcAft>
              <a:buClr>
                <a:srgbClr val="2B2D2F"/>
              </a:buClr>
              <a:buSzPts val="950"/>
              <a:buFont typeface="Arial"/>
              <a:buChar char="●"/>
            </a:pPr>
            <a:r>
              <a:rPr sz="950">
                <a:solidFill>
                  <a:srgbClr val="2B2D2F"/>
                </a:solidFill>
              </a:rPr>
              <a:t>The DSSE signature verifies with the supplied public key.</a:t>
            </a:r>
            <a:endParaRPr sz="950">
              <a:solidFill>
                <a:srgbClr val="2B2D2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lvl="0" indent="-288925" algn="l">
              <a:spcBef>
                <a:spcPts val="750"/>
              </a:spcBef>
              <a:spcAft>
                <a:spcPts val="0"/>
              </a:spcAft>
              <a:buClr>
                <a:srgbClr val="2B2D2F"/>
              </a:buClr>
              <a:buSzPts val="950"/>
              <a:buFont typeface="Arial"/>
              <a:buChar char="●"/>
            </a:pPr>
            <a:r>
              <a:rPr sz="950">
                <a:solidFill>
                  <a:srgbClr val="2B2D2F"/>
                </a:solidFill>
                <a:latin typeface="Arial"/>
                <a:ea typeface="Arial"/>
                <a:cs typeface="Arial"/>
              </a:rPr>
              <a:t>Manifest metadata and </a:t>
            </a:r>
            <a:r>
              <a:rPr sz="950">
                <a:solidFill>
                  <a:srgbClr val="2B2D2F"/>
                </a:solidFill>
              </a:rPr>
              <a:t>exact artifact list</a:t>
            </a:r>
            <a:r>
              <a:rPr sz="950">
                <a:solidFill>
                  <a:srgbClr val="2B2D2F"/>
                </a:solidFill>
                <a:latin typeface="Arial"/>
                <a:ea typeface="Arial"/>
                <a:cs typeface="Arial"/>
              </a:rPr>
              <a:t> match.</a:t>
            </a:r>
            <a:endParaRPr sz="950">
              <a:solidFill>
                <a:srgbClr val="2B2D2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lvl="0" indent="-288925" algn="l">
              <a:spcBef>
                <a:spcPts val="750"/>
              </a:spcBef>
              <a:spcAft>
                <a:spcPts val="0"/>
              </a:spcAft>
              <a:buClr>
                <a:srgbClr val="2B2D2F"/>
              </a:buClr>
              <a:buSzPts val="950"/>
              <a:buFont typeface="Arial"/>
              <a:buChar char="●"/>
            </a:pPr>
            <a:r>
              <a:rPr sz="950">
                <a:solidFill>
                  <a:srgbClr val="2B2D2F"/>
                </a:solidFill>
              </a:rPr>
              <a:t>Every current artifact matches its signed canonical digest.</a:t>
            </a:r>
            <a:endParaRPr sz="950">
              <a:solidFill>
                <a:srgbClr val="2B2D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8" name="Google Shape;538;p15">
            <a:extLst xmlns:a="http://schemas.openxmlformats.org/drawingml/2006/main">
              <a:ext uri="{FF2B5EF4-FFF2-40B4-BE49-F238E27FC236}">
                <a16:creationId xmlns:a16="http://schemas.microsoft.com/office/drawing/2014/main" id="{8CF979C5-8756-491F-A923-A3DDD263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0380" y="2473355"/>
            <a:ext cx="4000500" cy="1336929"/>
          </a:xfrm>
          <a:prstGeom xmlns:a="http://schemas.openxmlformats.org/drawingml/2006/main" prst="roundRect">
            <a:avLst>
              <a:gd name="adj" fmla="val 1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5">
            <a:extLst xmlns:a="http://schemas.openxmlformats.org/drawingml/2006/main">
              <a:ext uri="{FF2B5EF4-FFF2-40B4-BE49-F238E27FC236}">
                <a16:creationId xmlns:a16="http://schemas.microsoft.com/office/drawing/2014/main" id="{3FF4F0CE-D793-4293-8AB9-BD6EDB4C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0380" y="2473355"/>
            <a:ext cx="54300" cy="13369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3A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5">
            <a:extLst xmlns:a="http://schemas.openxmlformats.org/drawingml/2006/main">
              <a:ext uri="{FF2B5EF4-FFF2-40B4-BE49-F238E27FC236}">
                <a16:creationId xmlns:a16="http://schemas.microsoft.com/office/drawing/2014/main" id="{B91C8DC0-7044-458A-8B94-923FF778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0405" y="2564509"/>
            <a:ext cx="3619500" cy="1154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Current boundaries</a:t>
            </a:r>
            <a:endParaRPr sz="11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lvl="0" indent="-288925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51515"/>
              </a:buClr>
              <a:buSzPts val="950"/>
              <a:buChar char="●"/>
            </a:pPr>
            <a:r>
              <a:rPr sz="950">
                <a:solidFill>
                  <a:srgbClr val="151515"/>
                </a:solidFill>
                <a:highlight>
                  <a:schemeClr val="lt1"/>
                </a:highlight>
              </a:rPr>
              <a:t>One signature covers the complete package claim, artifacts are not signed individually.</a:t>
            </a:r>
            <a:endParaRPr sz="950">
              <a:solidFill>
                <a:srgbClr val="151515"/>
              </a:solidFill>
              <a:highlight>
                <a:schemeClr val="lt1"/>
              </a:highlight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151515"/>
              </a:solidFill>
              <a:highlight>
                <a:schemeClr val="lt1"/>
              </a:highlight>
            </a:endParaRPr>
          </a:p>
          <a:p xmlns:a="http://schemas.openxmlformats.org/drawingml/2006/main">
            <a:pPr marL="457200" lvl="0" indent="-2889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950"/>
              <a:buChar char="●"/>
            </a:pPr>
            <a:r>
              <a:rPr sz="950">
                <a:solidFill>
                  <a:srgbClr val="151515"/>
                </a:solidFill>
                <a:highlight>
                  <a:schemeClr val="lt1"/>
                </a:highlight>
              </a:rPr>
              <a:t>Signer identity, trusted-key policy, and CI enforcement remain external decisions.</a:t>
            </a:r>
            <a:endParaRPr sz="950">
              <a:solidFill>
                <a:srgbClr val="151515"/>
              </a:solidFill>
              <a:highlight>
                <a:schemeClr val="lt1"/>
              </a:highlight>
            </a:endParaRPr>
          </a:p>
        </p:txBody>
      </p:sp>
      <p:sp>
        <p:nvSpPr>
          <p:cNvPr id="541" name="Google Shape;541;p15">
            <a:extLst xmlns:a="http://schemas.openxmlformats.org/drawingml/2006/main">
              <a:ext uri="{FF2B5EF4-FFF2-40B4-BE49-F238E27FC236}">
                <a16:creationId xmlns:a16="http://schemas.microsoft.com/office/drawing/2014/main" id="{5FE81395-3AE9-435C-B075-1D9B6338730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166063" y="4786883"/>
            <a:ext cx="2478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816248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7" name="Google Shape;547;g3fa4555bcd4_0_0">
            <a:extLst xmlns:a="http://schemas.openxmlformats.org/drawingml/2006/main">
              <a:ext uri="{FF2B5EF4-FFF2-40B4-BE49-F238E27FC236}">
                <a16:creationId xmlns:a16="http://schemas.microsoft.com/office/drawing/2014/main" id="{40447E7E-5694-42E3-B72E-D0EDCAE4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35" y="316610"/>
            <a:ext cx="8169600" cy="28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900"/>
              <a:buFont typeface="Play"/>
              <a:buNone/>
            </a:pPr>
            <a:r>
              <a:rPr sz="19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Adding signed evidence to the OSCAL Compass demo</a:t>
            </a:r>
            <a:endParaRPr sz="1100"/>
          </a:p>
        </p:txBody>
      </p:sp>
      <p:sp>
        <p:nvSpPr>
          <p:cNvPr id="548" name="Google Shape;548;g3fa4555bcd4_0_0">
            <a:extLst xmlns:a="http://schemas.openxmlformats.org/drawingml/2006/main">
              <a:ext uri="{FF2B5EF4-FFF2-40B4-BE49-F238E27FC236}">
                <a16:creationId xmlns:a16="http://schemas.microsoft.com/office/drawing/2014/main" id="{E60AFDE0-4A0B-4F47-B319-50C7F38B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64" y="697230"/>
            <a:ext cx="80322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800"/>
              <a:buFont typeface="Arial"/>
              <a:buNone/>
            </a:pPr>
            <a:r>
              <a:rPr sz="800">
                <a:solidFill>
                  <a:srgbClr val="6A6E73"/>
                </a:solidFill>
              </a:rPr>
              <a:t>The demo connects OSCAL authoring with automated assessment and compliance posture.</a:t>
            </a:r>
            <a:endParaRPr sz="1100"/>
          </a:p>
        </p:txBody>
      </p:sp>
      <p:sp>
        <p:nvSpPr>
          <p:cNvPr id="549" name="Google Shape;549;g3fa4555bcd4_0_0">
            <a:extLst xmlns:a="http://schemas.openxmlformats.org/drawingml/2006/main">
              <a:ext uri="{FF2B5EF4-FFF2-40B4-BE49-F238E27FC236}">
                <a16:creationId xmlns:a16="http://schemas.microsoft.com/office/drawing/2014/main" id="{66463E11-D858-46F6-8632-D36E5706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13" y="1285943"/>
            <a:ext cx="1476000" cy="493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 w="12700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0" name="Google Shape;550;g3fa4555bcd4_0_0">
            <a:extLst xmlns:a="http://schemas.openxmlformats.org/drawingml/2006/main">
              <a:ext uri="{FF2B5EF4-FFF2-40B4-BE49-F238E27FC236}">
                <a16:creationId xmlns:a16="http://schemas.microsoft.com/office/drawing/2014/main" id="{38D4F607-5FB8-44E7-89D6-0F12B005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63" y="1436819"/>
            <a:ext cx="13386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1">
                <a:solidFill>
                  <a:srgbClr val="FFFFFF"/>
                </a:solidFill>
              </a:rPr>
              <a:t>Build SSP package</a:t>
            </a:r>
            <a:endParaRPr sz="1100"/>
          </a:p>
        </p:txBody>
      </p:sp>
      <p:sp>
        <p:nvSpPr>
          <p:cNvPr id="551" name="Google Shape;551;g3fa4555bcd4_0_0">
            <a:extLst xmlns:a="http://schemas.openxmlformats.org/drawingml/2006/main">
              <a:ext uri="{FF2B5EF4-FFF2-40B4-BE49-F238E27FC236}">
                <a16:creationId xmlns:a16="http://schemas.microsoft.com/office/drawing/2014/main" id="{B7DF9C17-B5EA-41AC-AA30-0BEFD51B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542" y="1450535"/>
            <a:ext cx="1098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2" name="Google Shape;552;g3fa4555bcd4_0_0">
            <a:extLst xmlns:a="http://schemas.openxmlformats.org/drawingml/2006/main">
              <a:ext uri="{FF2B5EF4-FFF2-40B4-BE49-F238E27FC236}">
                <a16:creationId xmlns:a16="http://schemas.microsoft.com/office/drawing/2014/main" id="{3E7941C5-7128-4675-B284-0A076E85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305" y="1285943"/>
            <a:ext cx="1476000" cy="493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 w="127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3" name="Google Shape;553;g3fa4555bcd4_0_0">
            <a:extLst xmlns:a="http://schemas.openxmlformats.org/drawingml/2006/main">
              <a:ext uri="{FF2B5EF4-FFF2-40B4-BE49-F238E27FC236}">
                <a16:creationId xmlns:a16="http://schemas.microsoft.com/office/drawing/2014/main" id="{1B6ABE68-72B8-4CBD-A4E1-6388B4AB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956" y="1436819"/>
            <a:ext cx="13386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1">
                <a:solidFill>
                  <a:srgbClr val="FFFFFF"/>
                </a:solidFill>
              </a:rPr>
              <a:t>Sign and publish</a:t>
            </a:r>
            <a:endParaRPr sz="1100"/>
          </a:p>
        </p:txBody>
      </p:sp>
      <p:sp>
        <p:nvSpPr>
          <p:cNvPr id="554" name="Google Shape;554;g3fa4555bcd4_0_0">
            <a:extLst xmlns:a="http://schemas.openxmlformats.org/drawingml/2006/main">
              <a:ext uri="{FF2B5EF4-FFF2-40B4-BE49-F238E27FC236}">
                <a16:creationId xmlns:a16="http://schemas.microsoft.com/office/drawing/2014/main" id="{68DCB593-C3AC-47B6-89E1-E1936217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234" y="1450535"/>
            <a:ext cx="1098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5" name="Google Shape;555;g3fa4555bcd4_0_0">
            <a:extLst xmlns:a="http://schemas.openxmlformats.org/drawingml/2006/main">
              <a:ext uri="{FF2B5EF4-FFF2-40B4-BE49-F238E27FC236}">
                <a16:creationId xmlns:a16="http://schemas.microsoft.com/office/drawing/2014/main" id="{82B282C0-74CA-40C2-A78B-9BC6C275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998" y="1285943"/>
            <a:ext cx="1476000" cy="493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12700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6" name="Google Shape;556;g3fa4555bcd4_0_0">
            <a:extLst xmlns:a="http://schemas.openxmlformats.org/drawingml/2006/main">
              <a:ext uri="{FF2B5EF4-FFF2-40B4-BE49-F238E27FC236}">
                <a16:creationId xmlns:a16="http://schemas.microsoft.com/office/drawing/2014/main" id="{9ED5A229-71EB-44BD-9FC3-593F75F3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648" y="1436819"/>
            <a:ext cx="13386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1">
                <a:solidFill>
                  <a:srgbClr val="FFFFFF"/>
                </a:solidFill>
              </a:rPr>
              <a:t>Download and verify SSP</a:t>
            </a:r>
            <a:endParaRPr sz="1100"/>
          </a:p>
        </p:txBody>
      </p:sp>
      <p:sp>
        <p:nvSpPr>
          <p:cNvPr id="557" name="Google Shape;557;g3fa4555bcd4_0_0">
            <a:extLst xmlns:a="http://schemas.openxmlformats.org/drawingml/2006/main">
              <a:ext uri="{FF2B5EF4-FFF2-40B4-BE49-F238E27FC236}">
                <a16:creationId xmlns:a16="http://schemas.microsoft.com/office/drawing/2014/main" id="{C4D233CC-1E60-4F1E-AB0A-C64DFC8A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926" y="1450535"/>
            <a:ext cx="1098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8" name="Google Shape;558;g3fa4555bcd4_0_0">
            <a:extLst xmlns:a="http://schemas.openxmlformats.org/drawingml/2006/main">
              <a:ext uri="{FF2B5EF4-FFF2-40B4-BE49-F238E27FC236}">
                <a16:creationId xmlns:a16="http://schemas.microsoft.com/office/drawing/2014/main" id="{512E21DC-6D62-4102-9F7A-9C6727EA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688" y="1285943"/>
            <a:ext cx="1476000" cy="493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AE81FF"/>
          </a:solidFill>
          <a:ln xmlns:a="http://schemas.openxmlformats.org/drawingml/2006/main" w="12700" cmpd="sng">
            <a:solidFill>
              <a:srgbClr val="AE81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9" name="Google Shape;559;g3fa4555bcd4_0_0">
            <a:extLst xmlns:a="http://schemas.openxmlformats.org/drawingml/2006/main">
              <a:ext uri="{FF2B5EF4-FFF2-40B4-BE49-F238E27FC236}">
                <a16:creationId xmlns:a16="http://schemas.microsoft.com/office/drawing/2014/main" id="{BF491FD9-E472-497C-B2F1-D538C7B2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41" y="1436819"/>
            <a:ext cx="13386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1">
                <a:solidFill>
                  <a:srgbClr val="FFFFFF"/>
                </a:solidFill>
              </a:rPr>
              <a:t>Build assessment package</a:t>
            </a:r>
            <a:endParaRPr sz="1100"/>
          </a:p>
        </p:txBody>
      </p:sp>
      <p:sp>
        <p:nvSpPr>
          <p:cNvPr id="560" name="Google Shape;560;g3fa4555bcd4_0_0">
            <a:extLst xmlns:a="http://schemas.openxmlformats.org/drawingml/2006/main">
              <a:ext uri="{FF2B5EF4-FFF2-40B4-BE49-F238E27FC236}">
                <a16:creationId xmlns:a16="http://schemas.microsoft.com/office/drawing/2014/main" id="{01B23842-0786-4FF4-844D-3BA4D0D2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618" y="1450535"/>
            <a:ext cx="109800" cy="164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6A6E73"/>
          </a:solidFill>
          <a:ln xmlns:a="http://schemas.openxmlformats.org/drawingml/2006/main" w="12700" cmpd="sng">
            <a:solidFill>
              <a:srgbClr val="6A6E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1" name="Google Shape;561;g3fa4555bcd4_0_0">
            <a:extLst xmlns:a="http://schemas.openxmlformats.org/drawingml/2006/main">
              <a:ext uri="{FF2B5EF4-FFF2-40B4-BE49-F238E27FC236}">
                <a16:creationId xmlns:a16="http://schemas.microsoft.com/office/drawing/2014/main" id="{AC715E7F-5DDF-492E-86DF-D8555AE5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382" y="1285943"/>
            <a:ext cx="1476000" cy="493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E0000"/>
          </a:solidFill>
          <a:ln xmlns:a="http://schemas.openxmlformats.org/drawingml/2006/main" w="12700" cmpd="sng">
            <a:solidFill>
              <a:srgbClr val="EE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300" tIns="34300" rIns="34300" bIns="343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2" name="Google Shape;562;g3fa4555bcd4_0_0">
            <a:extLst xmlns:a="http://schemas.openxmlformats.org/drawingml/2006/main">
              <a:ext uri="{FF2B5EF4-FFF2-40B4-BE49-F238E27FC236}">
                <a16:creationId xmlns:a16="http://schemas.microsoft.com/office/drawing/2014/main" id="{B01B0794-5A55-4CF3-9E2F-7A49A828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4034" y="1436819"/>
            <a:ext cx="13386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900" b="1">
                <a:solidFill>
                  <a:srgbClr val="FFFFFF"/>
                </a:solidFill>
              </a:rPr>
              <a:t>Sign and publish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564" name="Google Shape;564;g3fa4555bcd4_0_0">
            <a:extLst xmlns:a="http://schemas.openxmlformats.org/drawingml/2006/main">
              <a:ext uri="{FF2B5EF4-FFF2-40B4-BE49-F238E27FC236}">
                <a16:creationId xmlns:a16="http://schemas.microsoft.com/office/drawing/2014/main" id="{C831540B-84AB-4283-B28B-89F51780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075" y="2239935"/>
            <a:ext cx="4000500" cy="913219"/>
          </a:xfrm>
          <a:prstGeom xmlns:a="http://schemas.openxmlformats.org/drawingml/2006/main" prst="roundRect">
            <a:avLst>
              <a:gd name="adj" fmla="val 1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g3fa4555bcd4_0_0">
            <a:extLst xmlns:a="http://schemas.openxmlformats.org/drawingml/2006/main">
              <a:ext uri="{FF2B5EF4-FFF2-40B4-BE49-F238E27FC236}">
                <a16:creationId xmlns:a16="http://schemas.microsoft.com/office/drawing/2014/main" id="{758238A7-AB5E-4E75-ABAC-F6B6D39B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075" y="2239935"/>
            <a:ext cx="54300" cy="9132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81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3fa4555bcd4_0_0">
            <a:extLst xmlns:a="http://schemas.openxmlformats.org/drawingml/2006/main">
              <a:ext uri="{FF2B5EF4-FFF2-40B4-BE49-F238E27FC236}">
                <a16:creationId xmlns:a16="http://schemas.microsoft.com/office/drawing/2014/main" id="{F63A5C02-3757-40A1-B406-0881F479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9100" y="2302200"/>
            <a:ext cx="3619500" cy="78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Compliance-posture release</a:t>
            </a:r>
            <a:endParaRPr sz="11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sz="950">
                <a:solidFill>
                  <a:srgbClr val="151515"/>
                </a:solidFill>
                <a:highlight>
                  <a:schemeClr val="lt1"/>
                </a:highlight>
              </a:rPr>
              <a:t>The workflow verifies the selected SSP release before packaging it with assessment evidence. Consumers verify both signature layers separately.</a:t>
            </a:r>
            <a:endParaRPr sz="950">
              <a:solidFill>
                <a:srgbClr val="151515"/>
              </a:solidFill>
              <a:highlight>
                <a:schemeClr val="lt1"/>
              </a:highlight>
            </a:endParaRPr>
          </a:p>
        </p:txBody>
      </p:sp>
      <p:sp>
        <p:nvSpPr>
          <p:cNvPr id="567" name="Google Shape;567;g3fa4555bcd4_0_0">
            <a:extLst xmlns:a="http://schemas.openxmlformats.org/drawingml/2006/main">
              <a:ext uri="{FF2B5EF4-FFF2-40B4-BE49-F238E27FC236}">
                <a16:creationId xmlns:a16="http://schemas.microsoft.com/office/drawing/2014/main" id="{FE44ED97-1EB1-4502-8A60-8C9F644EEE0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166063" y="4786883"/>
            <a:ext cx="2478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  <p:sp>
        <p:nvSpPr>
          <p:cNvPr id="569" name="Google Shape;569;g3fa4555bcd4_0_0">
            <a:extLst xmlns:a="http://schemas.openxmlformats.org/drawingml/2006/main">
              <a:ext uri="{FF2B5EF4-FFF2-40B4-BE49-F238E27FC236}">
                <a16:creationId xmlns:a16="http://schemas.microsoft.com/office/drawing/2014/main" id="{AFB94429-CFF5-4F1C-AB2B-B28D13F6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30775" y="3421858"/>
            <a:ext cx="4000500" cy="1094061"/>
          </a:xfrm>
          <a:prstGeom xmlns:a="http://schemas.openxmlformats.org/drawingml/2006/main" prst="roundRect">
            <a:avLst>
              <a:gd name="adj" fmla="val 1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3fa4555bcd4_0_0">
            <a:extLst xmlns:a="http://schemas.openxmlformats.org/drawingml/2006/main">
              <a:ext uri="{FF2B5EF4-FFF2-40B4-BE49-F238E27FC236}">
                <a16:creationId xmlns:a16="http://schemas.microsoft.com/office/drawing/2014/main" id="{3C7ABE30-08F4-441F-839C-D4337C2C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30775" y="3421858"/>
            <a:ext cx="54300" cy="109406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accent4"/>
              </a:highlight>
            </a:endParaRPr>
          </a:p>
        </p:txBody>
      </p:sp>
      <p:sp>
        <p:nvSpPr>
          <p:cNvPr id="571" name="Google Shape;571;g3fa4555bcd4_0_0">
            <a:extLst xmlns:a="http://schemas.openxmlformats.org/drawingml/2006/main">
              <a:ext uri="{FF2B5EF4-FFF2-40B4-BE49-F238E27FC236}">
                <a16:creationId xmlns:a16="http://schemas.microsoft.com/office/drawing/2014/main" id="{11FF7CF2-C8F7-40A5-8C59-841CFBDB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2705" y="3496453"/>
            <a:ext cx="3619500" cy="944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Proposed integration</a:t>
            </a:r>
            <a:endParaRPr sz="11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lvl="0" indent="-288925" algn="l">
              <a:spcBef>
                <a:spcPts val="900"/>
              </a:spcBef>
              <a:spcAft>
                <a:spcPts val="0"/>
              </a:spcAft>
              <a:buClr>
                <a:srgbClr val="2B2D2F"/>
              </a:buClr>
              <a:buSzPts val="950"/>
              <a:buFont typeface="Arial"/>
              <a:buChar char="●"/>
            </a:pPr>
            <a:r>
              <a:rPr sz="950" u="sng">
                <a:solidFill>
                  <a:schemeClr val="hlink"/>
                </a:solidFill>
                <a:hlinkClick xmlns:r="http://schemas.openxmlformats.org/officeDocument/2006/relationships" r:id="R55c3c49770d74533"/>
              </a:rPr>
              <a:t>End-to-end demo</a:t>
            </a:r>
            <a:endParaRPr sz="950">
              <a:solidFill>
                <a:srgbClr val="2B2D2F"/>
              </a:solidFill>
            </a:endParaRPr>
          </a:p>
          <a:p xmlns:a="http://schemas.openxmlformats.org/drawingml/2006/main">
            <a:pPr marL="457200" lvl="0" indent="-288925" algn="l">
              <a:spcBef>
                <a:spcPts val="750"/>
              </a:spcBef>
              <a:spcAft>
                <a:spcPts val="0"/>
              </a:spcAft>
              <a:buClr>
                <a:srgbClr val="2B2D2F"/>
              </a:buClr>
              <a:buSzPts val="950"/>
              <a:buFont typeface="Arial"/>
              <a:buChar char="●"/>
            </a:pPr>
            <a:r>
              <a:rPr sz="950" u="sng">
                <a:solidFill>
                  <a:schemeClr val="hlink"/>
                </a:solidFill>
                <a:hlinkClick xmlns:r="http://schemas.openxmlformats.org/officeDocument/2006/relationships" r:id="R50a84e638ad04d71"/>
              </a:rPr>
              <a:t>SSP PR #9</a:t>
            </a:r>
            <a:endParaRPr sz="950">
              <a:solidFill>
                <a:srgbClr val="2B2D2F"/>
              </a:solidFill>
            </a:endParaRPr>
          </a:p>
          <a:p xmlns:a="http://schemas.openxmlformats.org/drawingml/2006/main">
            <a:pPr marL="457200" lvl="0" indent="-288925" algn="l">
              <a:spcBef>
                <a:spcPts val="750"/>
              </a:spcBef>
              <a:spcAft>
                <a:spcPts val="750"/>
              </a:spcAft>
              <a:buClr>
                <a:srgbClr val="2B2D2F"/>
              </a:buClr>
              <a:buSzPts val="950"/>
              <a:buFont typeface="Arial"/>
              <a:buChar char="●"/>
            </a:pPr>
            <a:r>
              <a:rPr sz="950" u="sng">
                <a:solidFill>
                  <a:schemeClr val="hlink"/>
                </a:solidFill>
                <a:hlinkClick xmlns:r="http://schemas.openxmlformats.org/officeDocument/2006/relationships" r:id="Rd94b77b8c73e4147"/>
              </a:rPr>
              <a:t>Compliance-posture PR #5</a:t>
            </a:r>
            <a:endParaRPr sz="950">
              <a:solidFill>
                <a:srgbClr val="2B2D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3" name="Google Shape;573;g3fa4555bcd4_0_0">
            <a:extLst xmlns:a="http://schemas.openxmlformats.org/drawingml/2006/main">
              <a:ext uri="{FF2B5EF4-FFF2-40B4-BE49-F238E27FC236}">
                <a16:creationId xmlns:a16="http://schemas.microsoft.com/office/drawing/2014/main" id="{11C6D323-8E80-4BB9-A98A-CD9EB75E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975" y="2239806"/>
            <a:ext cx="4000500" cy="913219"/>
          </a:xfrm>
          <a:prstGeom xmlns:a="http://schemas.openxmlformats.org/drawingml/2006/main" prst="roundRect">
            <a:avLst>
              <a:gd name="adj" fmla="val 1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g3fa4555bcd4_0_0">
            <a:extLst xmlns:a="http://schemas.openxmlformats.org/drawingml/2006/main">
              <a:ext uri="{FF2B5EF4-FFF2-40B4-BE49-F238E27FC236}">
                <a16:creationId xmlns:a16="http://schemas.microsoft.com/office/drawing/2014/main" id="{209A9260-ECAC-4EF5-8B67-A8D1D6D5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975" y="2239806"/>
            <a:ext cx="54300" cy="9132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fa4555bcd4_0_0">
            <a:extLst xmlns:a="http://schemas.openxmlformats.org/drawingml/2006/main">
              <a:ext uri="{FF2B5EF4-FFF2-40B4-BE49-F238E27FC236}">
                <a16:creationId xmlns:a16="http://schemas.microsoft.com/office/drawing/2014/main" id="{1CE2D91A-38EF-4552-99AA-A19B5DD7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1905" y="2302071"/>
            <a:ext cx="3619500" cy="78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SSP release</a:t>
            </a:r>
            <a:endParaRPr sz="11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spcBef>
                <a:spcPts val="900"/>
              </a:spcBef>
              <a:spcAft>
                <a:spcPts val="750"/>
              </a:spcAft>
              <a:buNone/>
            </a:pPr>
            <a:r>
              <a:rPr sz="950">
                <a:solidFill>
                  <a:srgbClr val="2B2D2F"/>
                </a:solidFill>
              </a:rPr>
              <a:t>A GitHub Actions workflow generates the manifest, signs and verifies the SSP package, and publishes it as a release asset.</a:t>
            </a:r>
            <a:endParaRPr sz="950">
              <a:solidFill>
                <a:srgbClr val="2B2D2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08452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1" name="Google Shape;581;p16">
            <a:extLst xmlns:a="http://schemas.openxmlformats.org/drawingml/2006/main">
              <a:ext uri="{FF2B5EF4-FFF2-40B4-BE49-F238E27FC236}">
                <a16:creationId xmlns:a16="http://schemas.microsoft.com/office/drawing/2014/main" id="{72E5E5CE-4BBF-4FEE-A4A1-C317B7FD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5" y="316600"/>
            <a:ext cx="8362200" cy="28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900"/>
              <a:buFont typeface="Play"/>
              <a:buNone/>
            </a:pPr>
            <a:r>
              <a:rPr sz="1900" b="1" i="0" u="none" cap="none">
                <a:solidFill>
                  <a:srgbClr val="151515"/>
                </a:solidFill>
                <a:latin typeface="Play"/>
                <a:ea typeface="Play"/>
                <a:cs typeface="Play"/>
              </a:rPr>
              <a:t>The GSoC outcome: </a:t>
            </a:r>
            <a:r>
              <a:rPr sz="1900" b="1">
                <a:solidFill>
                  <a:srgbClr val="151515"/>
                </a:solidFill>
                <a:latin typeface="Play"/>
                <a:ea typeface="Play"/>
                <a:cs typeface="Play"/>
              </a:rPr>
              <a:t>portable integrity evidence</a:t>
            </a:r>
            <a:r>
              <a:rPr sz="1900" b="1" i="0" u="none" cap="none">
                <a:solidFill>
                  <a:srgbClr val="151515"/>
                </a:solidFill>
                <a:latin typeface="Play"/>
                <a:ea typeface="Play"/>
                <a:cs typeface="Play"/>
              </a:rPr>
              <a:t> from one file to a package</a:t>
            </a:r>
            <a:endParaRPr sz="1100"/>
          </a:p>
        </p:txBody>
      </p:sp>
      <p:sp>
        <p:nvSpPr>
          <p:cNvPr id="582" name="Google Shape;582;p16">
            <a:extLst xmlns:a="http://schemas.openxmlformats.org/drawingml/2006/main">
              <a:ext uri="{FF2B5EF4-FFF2-40B4-BE49-F238E27FC236}">
                <a16:creationId xmlns:a16="http://schemas.microsoft.com/office/drawing/2014/main" id="{0FC32563-0749-4792-A0F0-D92090A3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64" y="697230"/>
            <a:ext cx="8032200" cy="1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6A6E73"/>
                </a:solidFill>
                <a:latin typeface="Arial"/>
                <a:ea typeface="Arial"/>
                <a:cs typeface="Arial"/>
              </a:rPr>
              <a:t>Trestle turns JSON and OSCAL dependency graphs into independently verifiable evidence.</a:t>
            </a:r>
            <a:endParaRPr sz="1100"/>
          </a:p>
        </p:txBody>
      </p:sp>
      <p:sp>
        <p:nvSpPr>
          <p:cNvPr id="583" name="Google Shape;583;p16">
            <a:extLst xmlns:a="http://schemas.openxmlformats.org/drawingml/2006/main">
              <a:ext uri="{FF2B5EF4-FFF2-40B4-BE49-F238E27FC236}">
                <a16:creationId xmlns:a16="http://schemas.microsoft.com/office/drawing/2014/main" id="{070D401B-2C0A-41C2-9B13-C98B54A9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1095375"/>
            <a:ext cx="4000500" cy="952500"/>
          </a:xfrm>
          <a:prstGeom xmlns:a="http://schemas.openxmlformats.org/drawingml/2006/main" prst="roundRect">
            <a:avLst>
              <a:gd name="adj" fmla="val 43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6">
            <a:extLst xmlns:a="http://schemas.openxmlformats.org/drawingml/2006/main">
              <a:ext uri="{FF2B5EF4-FFF2-40B4-BE49-F238E27FC236}">
                <a16:creationId xmlns:a16="http://schemas.microsoft.com/office/drawing/2014/main" id="{6DB27BE0-EA43-40ED-A812-7CC3A445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1095375"/>
            <a:ext cx="54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6">
            <a:extLst xmlns:a="http://schemas.openxmlformats.org/drawingml/2006/main">
              <a:ext uri="{FF2B5EF4-FFF2-40B4-BE49-F238E27FC236}">
                <a16:creationId xmlns:a16="http://schemas.microsoft.com/office/drawing/2014/main" id="{C2B17FF6-0D21-41C8-AFCE-AB6B0C83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3" y="1171575"/>
            <a:ext cx="3695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Single artifact</a:t>
            </a:r>
            <a:endParaRPr sz="11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spcBef>
                <a:spcPts val="450"/>
              </a:spcBef>
              <a:spcAft>
                <a:spcPts val="0"/>
              </a:spcAft>
              <a:buNone/>
            </a:pPr>
            <a:r>
              <a:rPr sz="950">
                <a:solidFill>
                  <a:srgbClr val="2B2D2F"/>
                </a:solidFill>
                <a:latin typeface="Arial"/>
                <a:ea typeface="Arial"/>
                <a:cs typeface="Arial"/>
              </a:rPr>
              <a:t>Stable canonical </a:t>
            </a:r>
            <a:r>
              <a:rPr sz="950">
                <a:solidFill>
                  <a:srgbClr val="2B2D2F"/>
                </a:solidFill>
              </a:rPr>
              <a:t>digest</a:t>
            </a:r>
            <a:r>
              <a:rPr sz="950">
                <a:solidFill>
                  <a:srgbClr val="2B2D2F"/>
                </a:solidFill>
                <a:latin typeface="Arial"/>
                <a:ea typeface="Arial"/>
                <a:cs typeface="Arial"/>
              </a:rPr>
              <a:t> + detached proof.</a:t>
            </a:r>
            <a:endParaRPr sz="950">
              <a:solidFill>
                <a:srgbClr val="2B2D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6" name="Google Shape;586;p16">
            <a:extLst xmlns:a="http://schemas.openxmlformats.org/drawingml/2006/main">
              <a:ext uri="{FF2B5EF4-FFF2-40B4-BE49-F238E27FC236}">
                <a16:creationId xmlns:a16="http://schemas.microsoft.com/office/drawing/2014/main" id="{328D6C98-FB77-4CDB-9D0C-79D81FE9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2190750"/>
            <a:ext cx="4000500" cy="952500"/>
          </a:xfrm>
          <a:prstGeom xmlns:a="http://schemas.openxmlformats.org/drawingml/2006/main" prst="roundRect">
            <a:avLst>
              <a:gd name="adj" fmla="val 43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">
            <a:extLst xmlns:a="http://schemas.openxmlformats.org/drawingml/2006/main">
              <a:ext uri="{FF2B5EF4-FFF2-40B4-BE49-F238E27FC236}">
                <a16:creationId xmlns:a16="http://schemas.microsoft.com/office/drawing/2014/main" id="{719F2332-7462-4E59-BE2F-590E745A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2190750"/>
            <a:ext cx="54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3A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6">
            <a:extLst xmlns:a="http://schemas.openxmlformats.org/drawingml/2006/main">
              <a:ext uri="{FF2B5EF4-FFF2-40B4-BE49-F238E27FC236}">
                <a16:creationId xmlns:a16="http://schemas.microsoft.com/office/drawing/2014/main" id="{082A6234-B2D7-4E5B-BD0C-7E1ED75A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3" y="2266950"/>
            <a:ext cx="3695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Connected package</a:t>
            </a:r>
            <a:endParaRPr sz="11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spcBef>
                <a:spcPts val="450"/>
              </a:spcBef>
              <a:spcAft>
                <a:spcPts val="0"/>
              </a:spcAft>
              <a:buNone/>
            </a:pPr>
            <a:r>
              <a:rPr sz="950">
                <a:solidFill>
                  <a:srgbClr val="2B2D2F"/>
                </a:solidFill>
              </a:rPr>
              <a:t>Automatic discovery + exact artifact set + one package proof.</a:t>
            </a:r>
            <a:endParaRPr sz="950">
              <a:solidFill>
                <a:srgbClr val="2B2D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9" name="Google Shape;589;p16">
            <a:extLst xmlns:a="http://schemas.openxmlformats.org/drawingml/2006/main">
              <a:ext uri="{FF2B5EF4-FFF2-40B4-BE49-F238E27FC236}">
                <a16:creationId xmlns:a16="http://schemas.microsoft.com/office/drawing/2014/main" id="{EF7DC132-EC2B-465D-BE8A-C7270681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3286125"/>
            <a:ext cx="4000500" cy="952500"/>
          </a:xfrm>
          <a:prstGeom xmlns:a="http://schemas.openxmlformats.org/drawingml/2006/main" prst="roundRect">
            <a:avLst>
              <a:gd name="adj" fmla="val 43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6">
            <a:extLst xmlns:a="http://schemas.openxmlformats.org/drawingml/2006/main">
              <a:ext uri="{FF2B5EF4-FFF2-40B4-BE49-F238E27FC236}">
                <a16:creationId xmlns:a16="http://schemas.microsoft.com/office/drawing/2014/main" id="{C5CBA788-9573-4303-A13E-26113222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" y="3286125"/>
            <a:ext cx="54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B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6">
            <a:extLst xmlns:a="http://schemas.openxmlformats.org/drawingml/2006/main">
              <a:ext uri="{FF2B5EF4-FFF2-40B4-BE49-F238E27FC236}">
                <a16:creationId xmlns:a16="http://schemas.microsoft.com/office/drawing/2014/main" id="{8FA02955-A617-452D-80F6-88B4884A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3" y="3362325"/>
            <a:ext cx="3695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Controlled resolution</a:t>
            </a:r>
            <a:endParaRPr sz="11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spcBef>
                <a:spcPts val="450"/>
              </a:spcBef>
              <a:spcAft>
                <a:spcPts val="0"/>
              </a:spcAft>
              <a:buNone/>
            </a:pPr>
            <a:r>
              <a:rPr sz="950">
                <a:solidFill>
                  <a:srgbClr val="2B2D2F"/>
                </a:solidFill>
                <a:latin typeface="Arial"/>
                <a:ea typeface="Arial"/>
                <a:cs typeface="Arial"/>
              </a:rPr>
              <a:t>Local and bounded remote dependencies become inspectable evidence.</a:t>
            </a:r>
            <a:endParaRPr sz="950">
              <a:solidFill>
                <a:srgbClr val="2B2D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2" name="Google Shape;592;p16">
            <a:extLst xmlns:a="http://schemas.openxmlformats.org/drawingml/2006/main">
              <a:ext uri="{FF2B5EF4-FFF2-40B4-BE49-F238E27FC236}">
                <a16:creationId xmlns:a16="http://schemas.microsoft.com/office/drawing/2014/main" id="{55B65BDF-D558-49AD-BC28-0053ADDA083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166063" y="4786883"/>
            <a:ext cx="247800" cy="1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300" tIns="34300" rIns="34300" bIns="343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E73"/>
              </a:buClr>
              <a:buSzPts val="600"/>
              <a:buFont typeface="Arial"/>
              <a:buNone/>
            </a:pPr>
            <a:fld id="{00000000-1234-1234-1234-123412341234}" type="slidenum">
              <a:rPr sz="600">
                <a:solidFill>
                  <a:srgbClr val="6A6E73"/>
                </a:solidFill>
              </a:rPr>
              <a:t>‹#›</a:t>
            </a:fld>
            <a:endParaRPr/>
          </a:p>
        </p:txBody>
      </p:sp>
      <p:sp>
        <p:nvSpPr>
          <p:cNvPr id="593" name="Google Shape;593;p16">
            <a:extLst xmlns:a="http://schemas.openxmlformats.org/drawingml/2006/main">
              <a:ext uri="{FF2B5EF4-FFF2-40B4-BE49-F238E27FC236}">
                <a16:creationId xmlns:a16="http://schemas.microsoft.com/office/drawing/2014/main" id="{ED6CF49B-0F9F-4527-8D33-8DFA8714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095375"/>
            <a:ext cx="4000500" cy="1524000"/>
          </a:xfrm>
          <a:prstGeom xmlns:a="http://schemas.openxmlformats.org/drawingml/2006/main" prst="roundRect">
            <a:avLst>
              <a:gd name="adj" fmla="val 27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6">
            <a:extLst xmlns:a="http://schemas.openxmlformats.org/drawingml/2006/main">
              <a:ext uri="{FF2B5EF4-FFF2-40B4-BE49-F238E27FC236}">
                <a16:creationId xmlns:a16="http://schemas.microsoft.com/office/drawing/2014/main" id="{13646F31-19A1-47F1-B6D4-70511DFD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095375"/>
            <a:ext cx="54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6">
            <a:extLst xmlns:a="http://schemas.openxmlformats.org/drawingml/2006/main">
              <a:ext uri="{FF2B5EF4-FFF2-40B4-BE49-F238E27FC236}">
                <a16:creationId xmlns:a16="http://schemas.microsoft.com/office/drawing/2014/main" id="{1987D4B8-A304-4E98-9197-D3A6136A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468" y="1171575"/>
            <a:ext cx="36957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Ready now in beta</a:t>
            </a:r>
            <a:endParaRPr sz="11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950">
                <a:solidFill>
                  <a:srgbClr val="2B2D2F"/>
                </a:solidFill>
                <a:latin typeface="Arial"/>
                <a:ea typeface="Arial"/>
                <a:cs typeface="Arial"/>
              </a:rPr>
              <a:t>Sign and verify individual JSON artifacts, and generate, sign, and verify packages through beta-gated CLI commands.</a:t>
            </a:r>
            <a:endParaRPr sz="950">
              <a:solidFill>
                <a:srgbClr val="2B2D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6" name="Google Shape;596;p16">
            <a:extLst xmlns:a="http://schemas.openxmlformats.org/drawingml/2006/main">
              <a:ext uri="{FF2B5EF4-FFF2-40B4-BE49-F238E27FC236}">
                <a16:creationId xmlns:a16="http://schemas.microsoft.com/office/drawing/2014/main" id="{45DDCF40-FB91-4A09-8C6E-24967456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14625"/>
            <a:ext cx="4000500" cy="1524000"/>
          </a:xfrm>
          <a:prstGeom xmlns:a="http://schemas.openxmlformats.org/drawingml/2006/main" prst="roundRect">
            <a:avLst>
              <a:gd name="adj" fmla="val 27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6D6D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6">
            <a:extLst xmlns:a="http://schemas.openxmlformats.org/drawingml/2006/main">
              <a:ext uri="{FF2B5EF4-FFF2-40B4-BE49-F238E27FC236}">
                <a16:creationId xmlns:a16="http://schemas.microsoft.com/office/drawing/2014/main" id="{D64EF5A7-3CEB-487C-8D4C-DCB24300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14625"/>
            <a:ext cx="54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6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6">
            <a:extLst xmlns:a="http://schemas.openxmlformats.org/drawingml/2006/main">
              <a:ext uri="{FF2B5EF4-FFF2-40B4-BE49-F238E27FC236}">
                <a16:creationId xmlns:a16="http://schemas.microsoft.com/office/drawing/2014/main" id="{CD52D12F-164B-432F-A40E-1EA8E867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468" y="2790825"/>
            <a:ext cx="36957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Next decisions</a:t>
            </a:r>
            <a:endParaRPr sz="1100" b="1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950">
                <a:solidFill>
                  <a:srgbClr val="2B2D2F"/>
                </a:solidFill>
                <a:latin typeface="Arial"/>
                <a:ea typeface="Arial"/>
                <a:cs typeface="Arial"/>
              </a:rPr>
              <a:t>Policy for per-document signatures, </a:t>
            </a:r>
            <a:r>
              <a:rPr sz="950">
                <a:solidFill>
                  <a:srgbClr val="2B2D2F"/>
                </a:solidFill>
              </a:rPr>
              <a:t>Sigstore-based</a:t>
            </a:r>
            <a:r>
              <a:rPr sz="950">
                <a:solidFill>
                  <a:srgbClr val="2B2D2F"/>
                </a:solidFill>
                <a:latin typeface="Arial"/>
                <a:ea typeface="Arial"/>
                <a:cs typeface="Arial"/>
              </a:rPr>
              <a:t> identity, </a:t>
            </a:r>
            <a:r>
              <a:rPr sz="950">
                <a:solidFill>
                  <a:srgbClr val="2B2D2F"/>
                </a:solidFill>
                <a:latin typeface="Arial"/>
                <a:ea typeface="Arial"/>
                <a:cs typeface="Arial"/>
              </a:rPr>
              <a:t>and broader CI enforcement</a:t>
            </a:r>
            <a:r>
              <a:rPr sz="950">
                <a:solidFill>
                  <a:srgbClr val="2B2D2F"/>
                </a:solidFill>
                <a:latin typeface="Arial"/>
                <a:ea typeface="Arial"/>
                <a:cs typeface="Arial"/>
              </a:rPr>
              <a:t> across multi-party compliance workflows.</a:t>
            </a:r>
            <a:endParaRPr sz="950">
              <a:solidFill>
                <a:srgbClr val="2B2D2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174771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2026-09-07T15:10:59.7240000Z</dcterms:created>
  <dcterms:modified xsi:type="dcterms:W3CDTF">2026-09-07T15:10:59.7240000Z</dcterms:modified>
</coreProperties>
</file>